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Hero. "Most Australian kids aren't eating enough of what they need."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research found over a million children in Australia are unhealthy, and ninety-five percent aren't meeting their daily macronutrient targets. But the real problem isn't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— pause after "Nagging is not a nutrition plan."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we made this. Let the tower render before you speak. BEAT — "Then they eat the tower."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— the setup gets them nodding, THEN turn it. Do not rush. "Same instinct, opposite outcome."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else on the shelf does that. If you are over time, this is the slide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hiding anything. Seven ingredients. Nut-free, so it clears the school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dollars a brick, pack of seven, fourteen dollars. And every pack comes with plans for a new build — the repeat-purchase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— land it and stop. "Thank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2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3796" y="589788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5815" y="589788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" y="741807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815" y="741807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25296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NUTRIBRICK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6002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1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Food bites shaped</a:t>
            </a:r>
            <a:endParaRPr lang="en-US" sz="41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1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like building bricks.</a:t>
            </a:r>
            <a:endParaRPr lang="en-US" sz="4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31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play with, built to nourish.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4480560" cy="420624"/>
          </a:xfrm>
          <a:prstGeom prst="roundRect">
            <a:avLst>
              <a:gd name="adj" fmla="val 108696"/>
            </a:avLst>
          </a:prstGeom>
          <a:solidFill>
            <a:srgbClr val="728157"/>
          </a:solidFill>
          <a:ln w="25400">
            <a:solidFill>
              <a:srgbClr val="7281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470916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10 CONCEPT  ·  NOT YET FOR SALE</a:t>
            </a:r>
            <a:endParaRPr lang="en-US" sz="1100" dirty="0"/>
          </a:p>
        </p:txBody>
      </p:sp>
      <p:pic>
        <p:nvPicPr>
          <p:cNvPr id="12" name="Image 0" descr="img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4754880" cy="33467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kohan1.github.io/NutriBrick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43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gap is real, and it is big.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3749040" cy="3108960"/>
          </a:xfrm>
          <a:prstGeom prst="roundRect">
            <a:avLst>
              <a:gd name="adj" fmla="val 5294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50976" y="27432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262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1M+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 Australia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unhealthy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636008" y="2240280"/>
            <a:ext cx="3749040" cy="3108960"/>
          </a:xfrm>
          <a:prstGeom prst="roundRect">
            <a:avLst>
              <a:gd name="adj" fmla="val 5294"/>
            </a:avLst>
          </a:prstGeom>
          <a:solidFill>
            <a:srgbClr val="F0FAE1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020056" y="27432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281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95%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020056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not meeting their daily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macronutrient targets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705088" y="2240280"/>
            <a:ext cx="2926080" cy="3108960"/>
          </a:xfrm>
          <a:prstGeom prst="roundRect">
            <a:avLst>
              <a:gd name="adj" fmla="val 5625"/>
            </a:avLst>
          </a:prstGeom>
          <a:solidFill>
            <a:srgbClr val="402310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997696" y="2743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Parents already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know what is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healthy.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4206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27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problem statement — verify before presenting.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4592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NIGHT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Dinner is a negotiation.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6858000" cy="969264"/>
          </a:xfrm>
          <a:prstGeom prst="roundRect">
            <a:avLst>
              <a:gd name="adj" fmla="val 50000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24028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262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527048" y="2240280"/>
            <a:ext cx="56692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snack goes in the bin, untouched.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66928" y="3447288"/>
            <a:ext cx="6858000" cy="969264"/>
          </a:xfrm>
          <a:prstGeom prst="roundRect">
            <a:avLst>
              <a:gd name="adj" fmla="val 50000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262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527048" y="3447288"/>
            <a:ext cx="56692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sweet gets negotiated in.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66928" y="4654296"/>
            <a:ext cx="6858000" cy="969264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465429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81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527048" y="4654296"/>
            <a:ext cx="56692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wins. Repeat tomorrow.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955280" y="2240280"/>
            <a:ext cx="3657600" cy="3529584"/>
          </a:xfrm>
          <a:prstGeom prst="roundRect">
            <a:avLst>
              <a:gd name="adj" fmla="val 4663"/>
            </a:avLst>
          </a:prstGeom>
          <a:solidFill>
            <a:srgbClr val="402310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29718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Nagging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 not a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nutrition plan.</a:t>
            </a:r>
            <a:endParaRPr lang="en-US" sz="2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78308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it.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Stack it.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Eat it.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bite the size of a building brick, with studs that actually interlock. Kids stack a tower — then they eat the tower.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800600"/>
            <a:ext cx="2423160" cy="438912"/>
          </a:xfrm>
          <a:prstGeom prst="roundRect">
            <a:avLst>
              <a:gd name="adj" fmla="val 104167"/>
            </a:avLst>
          </a:prstGeom>
          <a:solidFill>
            <a:srgbClr val="F9F4ED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40" kern="0" dirty="0">
                <a:solidFill>
                  <a:srgbClr val="402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Nut-free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72968" y="4800600"/>
            <a:ext cx="2423160" cy="438912"/>
          </a:xfrm>
          <a:prstGeom prst="roundRect">
            <a:avLst>
              <a:gd name="adj" fmla="val 104167"/>
            </a:avLst>
          </a:prstGeom>
          <a:solidFill>
            <a:srgbClr val="F9F4ED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72968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40" kern="0" dirty="0">
                <a:solidFill>
                  <a:srgbClr val="402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gelatine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367528"/>
            <a:ext cx="2423160" cy="438912"/>
          </a:xfrm>
          <a:prstGeom prst="roundRect">
            <a:avLst>
              <a:gd name="adj" fmla="val 104167"/>
            </a:avLst>
          </a:prstGeom>
          <a:solidFill>
            <a:srgbClr val="F9F4ED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40" kern="0" dirty="0">
                <a:solidFill>
                  <a:srgbClr val="402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junk bricks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72968" y="5367528"/>
            <a:ext cx="2423160" cy="438912"/>
          </a:xfrm>
          <a:prstGeom prst="roundRect">
            <a:avLst>
              <a:gd name="adj" fmla="val 104167"/>
            </a:avLst>
          </a:prstGeom>
          <a:solidFill>
            <a:srgbClr val="F9F4ED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40" kern="0" dirty="0">
                <a:solidFill>
                  <a:srgbClr val="402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play with</a:t>
            </a:r>
            <a:endParaRPr lang="en-US" sz="1150" dirty="0"/>
          </a:p>
        </p:txBody>
      </p:sp>
      <p:pic>
        <p:nvPicPr>
          <p:cNvPr id="14" name="Image 0" descr="img-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51560"/>
            <a:ext cx="470916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02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91640" cy="384048"/>
          </a:xfrm>
          <a:prstGeom prst="roundRect">
            <a:avLst>
              <a:gd name="adj" fmla="val 119048"/>
            </a:avLst>
          </a:prstGeom>
          <a:solidFill>
            <a:srgbClr val="B2622D"/>
          </a:solidFill>
          <a:ln w="25400">
            <a:solidFill>
              <a:srgbClr val="B262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2588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“Don’t play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with your food.”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4290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 exists because playing with food usually means wasting it.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206240"/>
            <a:ext cx="6766560" cy="1783080"/>
          </a:xfrm>
          <a:prstGeom prst="roundRect">
            <a:avLst>
              <a:gd name="adj" fmla="val 9231"/>
            </a:avLst>
          </a:prstGeom>
          <a:solidFill>
            <a:srgbClr val="728157"/>
          </a:solidFill>
          <a:ln w="31750">
            <a:solidFill>
              <a:srgbClr val="728157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78408" y="44988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Here, playing with it is how it gets eaten.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5166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0F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instinct, opposite outcome.</a:t>
            </a:r>
            <a:endParaRPr lang="en-US" sz="1700" dirty="0"/>
          </a:p>
        </p:txBody>
      </p:sp>
      <p:pic>
        <p:nvPicPr>
          <p:cNvPr id="9" name="Image 0" descr="img-t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508760"/>
            <a:ext cx="40690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SNACK AISLE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Honestly compared.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06040" cy="3931920"/>
          </a:xfrm>
          <a:prstGeom prst="roundRect">
            <a:avLst>
              <a:gd name="adj" fmla="val 6316"/>
            </a:avLst>
          </a:prstGeom>
          <a:solidFill>
            <a:srgbClr val="FFF2EB"/>
          </a:solidFill>
          <a:ln w="31750">
            <a:solidFill>
              <a:srgbClr val="DCD3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286000"/>
            <a:ext cx="493776" cy="493776"/>
          </a:xfrm>
          <a:prstGeom prst="ellipse">
            <a:avLst/>
          </a:prstGeom>
          <a:solidFill>
            <a:srgbClr val="E8DCCB"/>
          </a:solidFill>
          <a:ln w="19050">
            <a:solidFill>
              <a:srgbClr val="DCD3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992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KID MEALS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5661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freezer, a microwave and twelve minutes you do not have.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55848" y="2011680"/>
            <a:ext cx="2606040" cy="3931920"/>
          </a:xfrm>
          <a:prstGeom prst="roundRect">
            <a:avLst>
              <a:gd name="adj" fmla="val 6316"/>
            </a:avLst>
          </a:prstGeom>
          <a:solidFill>
            <a:srgbClr val="FFF2EB"/>
          </a:solidFill>
          <a:ln w="31750">
            <a:solidFill>
              <a:srgbClr val="DCD3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0168" y="2286000"/>
            <a:ext cx="493776" cy="493776"/>
          </a:xfrm>
          <a:prstGeom prst="ellipse">
            <a:avLst/>
          </a:prstGeom>
          <a:solidFill>
            <a:srgbClr val="E8DCCB"/>
          </a:solidFill>
          <a:ln w="19050">
            <a:solidFill>
              <a:srgbClr val="DCD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016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9992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POUCHES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35661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you cannot see, and nothing for a kid to actually do with it.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44768" y="2011680"/>
            <a:ext cx="2606040" cy="3931920"/>
          </a:xfrm>
          <a:prstGeom prst="roundRect">
            <a:avLst>
              <a:gd name="adj" fmla="val 6316"/>
            </a:avLst>
          </a:prstGeom>
          <a:solidFill>
            <a:srgbClr val="FFF2EB"/>
          </a:solidFill>
          <a:ln w="31750">
            <a:solidFill>
              <a:srgbClr val="DCD3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9088" y="2286000"/>
            <a:ext cx="493776" cy="493776"/>
          </a:xfrm>
          <a:prstGeom prst="ellipse">
            <a:avLst/>
          </a:prstGeom>
          <a:solidFill>
            <a:srgbClr val="E8DCCB"/>
          </a:solidFill>
          <a:ln w="19050">
            <a:solidFill>
              <a:srgbClr val="DCD3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29992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BLOCK LOLLIES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5661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 shape is the whole product. Inside, it is sugar.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933688" y="2011680"/>
            <a:ext cx="2606040" cy="3931920"/>
          </a:xfrm>
          <a:prstGeom prst="roundRect">
            <a:avLst>
              <a:gd name="adj" fmla="val 6316"/>
            </a:avLst>
          </a:prstGeom>
          <a:solidFill>
            <a:srgbClr val="728157"/>
          </a:solidFill>
          <a:ln w="31750">
            <a:solidFill>
              <a:srgbClr val="728157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08008" y="2286000"/>
            <a:ext cx="493776" cy="493776"/>
          </a:xfrm>
          <a:prstGeom prst="ellipse">
            <a:avLst/>
          </a:prstGeom>
          <a:solidFill>
            <a:srgbClr val="F9F4ED"/>
          </a:solidFill>
          <a:ln w="19050">
            <a:solidFill>
              <a:srgbClr val="F9F4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0800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28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08008" y="29992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NUTRIBRICK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208008" y="35661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nutrition in the same bite. Out of the fridge, into their hands.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83464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NUTRITION, MADE VISIBLE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brick. 45g. Here is all of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606040" cy="1234440"/>
          </a:xfrm>
          <a:prstGeom prst="roundRect">
            <a:avLst>
              <a:gd name="adj" fmla="val 13333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21396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B262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203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614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45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55848" y="1965960"/>
            <a:ext cx="2606040" cy="1234440"/>
          </a:xfrm>
          <a:prstGeom prst="roundRect">
            <a:avLst>
              <a:gd name="adj" fmla="val 13333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30168" y="21396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B262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13g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7614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45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44768" y="1965960"/>
            <a:ext cx="2606040" cy="1234440"/>
          </a:xfrm>
          <a:prstGeom prst="roundRect">
            <a:avLst>
              <a:gd name="adj" fmla="val 13333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19088" y="21396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7281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4g</a:t>
            </a:r>
            <a:endParaRPr lang="en-US" sz="31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27614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45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33688" y="1965960"/>
            <a:ext cx="2606040" cy="1234440"/>
          </a:xfrm>
          <a:prstGeom prst="roundRect">
            <a:avLst>
              <a:gd name="adj" fmla="val 13333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08008" y="21396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7281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100%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9208008" y="27614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45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C, A &amp; 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520440"/>
            <a:ext cx="6675120" cy="2148840"/>
          </a:xfrm>
          <a:prstGeom prst="roundRect">
            <a:avLst>
              <a:gd name="adj" fmla="val 7660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86968" y="373075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Seven ingredients, in plain words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" y="42062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Rolled oats — slow-release energy and fibre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Sunflower seed butter — the bind, and nut-free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protein — the 13g of protein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— sweetness instead of refined sugar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and flaxseed — omega-3 and fibre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Cocoa and cinnamon — the flavour kids ask for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vitamins C, A and D — the only part we fortify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89520" y="3520440"/>
            <a:ext cx="4023360" cy="2148840"/>
          </a:xfrm>
          <a:prstGeom prst="roundRect">
            <a:avLst>
              <a:gd name="adj" fmla="val 7660"/>
            </a:avLst>
          </a:prstGeom>
          <a:solidFill>
            <a:srgbClr val="402310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882128" y="3749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formulation targets for the concept, not tested label values.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2128" y="4617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Nut-free  ·  No gelatine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refined sugar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artificial colours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71600" cy="384048"/>
          </a:xfrm>
          <a:prstGeom prst="roundRect">
            <a:avLst>
              <a:gd name="adj" fmla="val 119048"/>
            </a:avLst>
          </a:prstGeom>
          <a:solidFill>
            <a:srgbClr val="402310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5156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40231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$2.00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3630168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BRICK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231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as packs of seven — a week of snacks for $14.00. No subscription, no freezer space, no leftovers to scrape.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3657600"/>
            <a:ext cx="5760720" cy="1920240"/>
          </a:xfrm>
          <a:prstGeom prst="roundRect">
            <a:avLst>
              <a:gd name="adj" fmla="val 8571"/>
            </a:avLst>
          </a:prstGeom>
          <a:solidFill>
            <a:srgbClr val="728157"/>
          </a:solidFill>
          <a:ln w="31750">
            <a:solidFill>
              <a:srgbClr val="728157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32688" y="39502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pack also comes with plans for a new build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8280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0F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design each time — so seven bricks are never just seven snacks.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0" y="1051560"/>
            <a:ext cx="4754880" cy="4526280"/>
          </a:xfrm>
          <a:prstGeom prst="roundRect">
            <a:avLst>
              <a:gd name="adj" fmla="val 3636"/>
            </a:avLst>
          </a:prstGeom>
          <a:solidFill>
            <a:srgbClr val="FFF2EB"/>
          </a:solidFill>
          <a:ln w="31750">
            <a:solidFill>
              <a:srgbClr val="402310"/>
            </a:solidFill>
            <a:prstDash val="solid"/>
          </a:ln>
          <a:effectLst>
            <a:outerShdw sx="100000" sy="100000" kx="0" ky="0" algn="bl" rotWithShape="0" blurRad="101600" dist="63500" dir="2700000">
              <a:srgbClr val="402310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7804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BRICK A DAY, PACK OF SEVEN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196596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88936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1544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69480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366760" y="196596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86216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78824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66760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464040" y="196596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83496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76104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64040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561320" y="196596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80776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73384" y="213055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561320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18120" y="324612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37576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30184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1812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15400" y="324612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34856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27464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012680" y="3246120"/>
            <a:ext cx="914400" cy="1097280"/>
          </a:xfrm>
          <a:prstGeom prst="roundRect">
            <a:avLst>
              <a:gd name="adj" fmla="val 18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232136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524744" y="3410712"/>
            <a:ext cx="164592" cy="164592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01268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4846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2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plans for one new build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02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43312"/>
          </a:solidFill>
          <a:ln w="25400">
            <a:solidFill>
              <a:srgbClr val="4023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3796" y="589788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5815" y="589788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" y="741807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815" y="741807"/>
            <a:ext cx="86868" cy="86868"/>
          </a:xfrm>
          <a:prstGeom prst="ellipse">
            <a:avLst/>
          </a:prstGeom>
          <a:solidFill>
            <a:srgbClr val="F6A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25296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NUTRIBRICK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6916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Make the healthy thing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fun thing, and you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9F4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don’t have to negotiate.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4348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E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10 idea, built properly. NutriBrick is still a concept — this is the pitch for it.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4206240" cy="420624"/>
          </a:xfrm>
          <a:prstGeom prst="roundRect">
            <a:avLst>
              <a:gd name="adj" fmla="val 108696"/>
            </a:avLst>
          </a:prstGeom>
          <a:solidFill>
            <a:srgbClr val="728157"/>
          </a:solidFill>
          <a:ln w="25400">
            <a:solidFill>
              <a:srgbClr val="7281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534924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F9F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FUTURE ANYTHING STUDENT VENTURE</a:t>
            </a:r>
            <a:endParaRPr lang="en-US" sz="1050" dirty="0"/>
          </a:p>
        </p:txBody>
      </p:sp>
      <p:pic>
        <p:nvPicPr>
          <p:cNvPr id="12" name="Image 0" descr="img-t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463040"/>
            <a:ext cx="3566160" cy="24871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NutriBrick — pitch</dc:title>
  <dc:subject>PptxGenJS Presentation</dc:subject>
  <dc:creator>NutriBrick</dc:creator>
  <cp:lastModifiedBy>NutriBrick</cp:lastModifiedBy>
  <cp:revision>1</cp:revision>
  <dcterms:created xsi:type="dcterms:W3CDTF">2026-09-01T03:28:05Z</dcterms:created>
  <dcterms:modified xsi:type="dcterms:W3CDTF">2026-09-01T03:28:05Z</dcterms:modified>
</cp:coreProperties>
</file>