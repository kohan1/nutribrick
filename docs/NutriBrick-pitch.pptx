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NutriBrick is a snack for primary school kids, shaped like a building brick that actually stacks. Then the AIHW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the Australian Institute of Health and Welfare, over a million children in Australia are unhealthy and 95% are not hitting their macronutrient requirements daily. Have the source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already know what is healthy. The hard part is getting a kid to eat it. Young kids decide by how it looks and feels, which is why explaining does 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tower finish loading before you talk. Size of a Duplo brick, studs interlock, every brick identical so the nutrition per brick is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State the rule first, then explain why it does not apply: the building is what gets it eaten, so the food is not wasted.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them: Kidfresh is frozen, long ingredient lists, not sold in Australia. Little Spoon is fresh but subscription only and priced for higher income parents. Gummy blocks stack but are sugar. Be ready to say what each does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grams, 203 calories, 13g protein, 4g fibre, full day of vitamin C, A and D. Seven ingredients. Nut free because the bind is sunflower seed butter. Say the numbers clearly, do not rush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a brick, packs of seven, $14 a week. In store, not a subscription, which is where Little Spoon prices itself out. Build plans are the repeat purchase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$100,000 clearly, then the three things it buys. Do not rush it or apologise for it. This is the part judges are waiting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10 team through Future Anything. Close on the reasoning: kids decide with their eyes and hands first, and almost every healthy snack ignores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02310"/>
        </a:solidFill>
      </p:bgPr>
    </p:bg>
    <p:spTree>
      <p:nvGrpSpPr>
        <p:cNvPr id="1" name=""/>
        <p:cNvGrpSpPr/>
        <p:nvPr/>
      </p:nvGrpSpPr>
      <p:grpSpPr>
        <a:xfrm>
          <a:off x="0" y="0"/>
          <a:ext cx="0" cy="0"/>
          <a:chOff x="0" y="0"/>
          <a:chExt cx="0" cy="0"/>
        </a:xfrm>
      </p:grpSpPr>
      <p:sp>
        <p:nvSpPr>
          <p:cNvPr id="2" name="Shape 0"/>
          <p:cNvSpPr/>
          <p:nvPr/>
        </p:nvSpPr>
        <p:spPr>
          <a:xfrm>
            <a:off x="566928" y="502920"/>
            <a:ext cx="457200" cy="457200"/>
          </a:xfrm>
          <a:prstGeom prst="roundRect">
            <a:avLst>
              <a:gd name="adj" fmla="val 50000"/>
            </a:avLst>
          </a:prstGeom>
          <a:solidFill>
            <a:srgbClr val="643312"/>
          </a:solidFill>
          <a:ln w="25400">
            <a:solidFill>
              <a:srgbClr val="402310"/>
            </a:solidFill>
            <a:prstDash val="solid"/>
          </a:ln>
        </p:spPr>
      </p:sp>
      <p:sp>
        <p:nvSpPr>
          <p:cNvPr id="3" name="Shape 1"/>
          <p:cNvSpPr/>
          <p:nvPr/>
        </p:nvSpPr>
        <p:spPr>
          <a:xfrm>
            <a:off x="653796" y="589788"/>
            <a:ext cx="86868" cy="86868"/>
          </a:xfrm>
          <a:prstGeom prst="ellipse">
            <a:avLst/>
          </a:prstGeom>
          <a:solidFill>
            <a:srgbClr val="F6A06B"/>
          </a:solidFill>
          <a:ln w="12700">
            <a:solidFill>
              <a:srgbClr val="333333"/>
            </a:solidFill>
            <a:prstDash val="solid"/>
          </a:ln>
        </p:spPr>
      </p:sp>
      <p:sp>
        <p:nvSpPr>
          <p:cNvPr id="4" name="Shape 2"/>
          <p:cNvSpPr/>
          <p:nvPr/>
        </p:nvSpPr>
        <p:spPr>
          <a:xfrm>
            <a:off x="805815" y="589788"/>
            <a:ext cx="86868" cy="86868"/>
          </a:xfrm>
          <a:prstGeom prst="ellipse">
            <a:avLst/>
          </a:prstGeom>
          <a:solidFill>
            <a:srgbClr val="F6A06B"/>
          </a:solidFill>
          <a:ln w="12700">
            <a:solidFill>
              <a:srgbClr val="333333"/>
            </a:solidFill>
            <a:prstDash val="solid"/>
          </a:ln>
        </p:spPr>
      </p:sp>
      <p:sp>
        <p:nvSpPr>
          <p:cNvPr id="5" name="Shape 3"/>
          <p:cNvSpPr/>
          <p:nvPr/>
        </p:nvSpPr>
        <p:spPr>
          <a:xfrm>
            <a:off x="653796" y="741807"/>
            <a:ext cx="86868" cy="86868"/>
          </a:xfrm>
          <a:prstGeom prst="ellipse">
            <a:avLst/>
          </a:prstGeom>
          <a:solidFill>
            <a:srgbClr val="F6A06B"/>
          </a:solidFill>
          <a:ln w="12700">
            <a:solidFill>
              <a:srgbClr val="333333"/>
            </a:solidFill>
            <a:prstDash val="solid"/>
          </a:ln>
        </p:spPr>
      </p:sp>
      <p:sp>
        <p:nvSpPr>
          <p:cNvPr id="6" name="Shape 4"/>
          <p:cNvSpPr/>
          <p:nvPr/>
        </p:nvSpPr>
        <p:spPr>
          <a:xfrm>
            <a:off x="805815" y="741807"/>
            <a:ext cx="86868" cy="86868"/>
          </a:xfrm>
          <a:prstGeom prst="ellipse">
            <a:avLst/>
          </a:prstGeom>
          <a:solidFill>
            <a:srgbClr val="F6A06B"/>
          </a:solidFill>
          <a:ln w="12700">
            <a:solidFill>
              <a:srgbClr val="333333"/>
            </a:solidFill>
            <a:prstDash val="solid"/>
          </a:ln>
        </p:spPr>
      </p:sp>
      <p:sp>
        <p:nvSpPr>
          <p:cNvPr id="7" name="Text 5"/>
          <p:cNvSpPr txBox="1"/>
          <p:nvPr/>
        </p:nvSpPr>
        <p:spPr>
          <a:xfrm>
            <a:off x="1225296" y="548640"/>
            <a:ext cx="3657600" cy="365760"/>
          </a:xfrm>
          <a:prstGeom prst="rect">
            <a:avLst/>
          </a:prstGeom>
          <a:noFill/>
          <a:ln/>
        </p:spPr>
        <p:txBody>
          <a:bodyPr wrap="square" lIns="0" tIns="0" rIns="0" bIns="0" rtlCol="0" anchor="ctr"/>
          <a:lstStyle/>
          <a:p>
            <a:pPr indent="0" marL="0">
              <a:buNone/>
            </a:pPr>
            <a:r>
              <a:rPr lang="en-US" sz="1500" b="1" spc="300" kern="0" dirty="0">
                <a:solidFill>
                  <a:srgbClr val="FFE1D0"/>
                </a:solidFill>
                <a:latin typeface="Calibri" pitchFamily="34" charset="0"/>
                <a:ea typeface="Calibri" pitchFamily="34" charset="-122"/>
                <a:cs typeface="Calibri" pitchFamily="34" charset="-120"/>
              </a:rPr>
              <a:t>NUTRIBRICK</a:t>
            </a:r>
            <a:endParaRPr lang="en-US" sz="1500" dirty="0"/>
          </a:p>
        </p:txBody>
      </p:sp>
      <p:sp>
        <p:nvSpPr>
          <p:cNvPr id="8" name="Text 6"/>
          <p:cNvSpPr txBox="1"/>
          <p:nvPr/>
        </p:nvSpPr>
        <p:spPr>
          <a:xfrm>
            <a:off x="566928" y="1600200"/>
            <a:ext cx="6400800" cy="2286000"/>
          </a:xfrm>
          <a:prstGeom prst="rect">
            <a:avLst/>
          </a:prstGeom>
          <a:noFill/>
          <a:ln/>
        </p:spPr>
        <p:txBody>
          <a:bodyPr wrap="square" lIns="0" tIns="0" rIns="0" bIns="0" rtlCol="0" anchor="ctr"/>
          <a:lstStyle/>
          <a:p>
            <a:pPr indent="0" marL="0">
              <a:lnSpc>
                <a:spcPts val="4600"/>
              </a:lnSpc>
              <a:buNone/>
            </a:pPr>
            <a:r>
              <a:rPr lang="en-US" sz="4100" b="1" dirty="0">
                <a:solidFill>
                  <a:srgbClr val="F9F4ED"/>
                </a:solidFill>
                <a:latin typeface="Bookman Old Style" pitchFamily="34" charset="0"/>
                <a:ea typeface="Bookman Old Style" pitchFamily="34" charset="-122"/>
                <a:cs typeface="Bookman Old Style" pitchFamily="34" charset="-120"/>
              </a:rPr>
              <a:t>Food bites shaped</a:t>
            </a:r>
            <a:endParaRPr lang="en-US" sz="4100" dirty="0"/>
          </a:p>
          <a:p>
            <a:pPr indent="0" marL="0">
              <a:lnSpc>
                <a:spcPts val="4600"/>
              </a:lnSpc>
              <a:buNone/>
            </a:pPr>
            <a:r>
              <a:rPr lang="en-US" sz="4100" b="1" dirty="0">
                <a:solidFill>
                  <a:srgbClr val="F9F4ED"/>
                </a:solidFill>
                <a:latin typeface="Bookman Old Style" pitchFamily="34" charset="0"/>
                <a:ea typeface="Bookman Old Style" pitchFamily="34" charset="-122"/>
                <a:cs typeface="Bookman Old Style" pitchFamily="34" charset="-120"/>
              </a:rPr>
              <a:t>like building bricks.</a:t>
            </a:r>
            <a:endParaRPr lang="en-US" sz="4100" dirty="0"/>
          </a:p>
        </p:txBody>
      </p:sp>
      <p:sp>
        <p:nvSpPr>
          <p:cNvPr id="9" name="Text 7"/>
          <p:cNvSpPr txBox="1"/>
          <p:nvPr/>
        </p:nvSpPr>
        <p:spPr>
          <a:xfrm>
            <a:off x="566928" y="3931920"/>
            <a:ext cx="6035040" cy="457200"/>
          </a:xfrm>
          <a:prstGeom prst="rect">
            <a:avLst/>
          </a:prstGeom>
          <a:noFill/>
          <a:ln/>
        </p:spPr>
        <p:txBody>
          <a:bodyPr wrap="square" lIns="0" tIns="0" rIns="0" bIns="0" rtlCol="0" anchor="ctr"/>
          <a:lstStyle/>
          <a:p>
            <a:pPr indent="0" marL="0">
              <a:buNone/>
            </a:pPr>
            <a:r>
              <a:rPr lang="en-US" sz="1900" i="1" dirty="0">
                <a:solidFill>
                  <a:srgbClr val="FFE1D0"/>
                </a:solidFill>
                <a:latin typeface="Calibri" pitchFamily="34" charset="0"/>
                <a:ea typeface="Calibri" pitchFamily="34" charset="-122"/>
                <a:cs typeface="Calibri" pitchFamily="34" charset="-120"/>
              </a:rPr>
              <a:t>Made to play with, built to nourish.</a:t>
            </a:r>
            <a:endParaRPr lang="en-US" sz="1900" dirty="0"/>
          </a:p>
        </p:txBody>
      </p:sp>
      <p:sp>
        <p:nvSpPr>
          <p:cNvPr id="10" name="Shape 8"/>
          <p:cNvSpPr/>
          <p:nvPr/>
        </p:nvSpPr>
        <p:spPr>
          <a:xfrm>
            <a:off x="566928" y="4709160"/>
            <a:ext cx="4480560" cy="420624"/>
          </a:xfrm>
          <a:prstGeom prst="roundRect">
            <a:avLst>
              <a:gd name="adj" fmla="val 108696"/>
            </a:avLst>
          </a:prstGeom>
          <a:solidFill>
            <a:srgbClr val="728157"/>
          </a:solidFill>
          <a:ln w="25400">
            <a:solidFill>
              <a:srgbClr val="728157"/>
            </a:solidFill>
            <a:prstDash val="solid"/>
          </a:ln>
        </p:spPr>
      </p:sp>
      <p:sp>
        <p:nvSpPr>
          <p:cNvPr id="11" name="Text 9"/>
          <p:cNvSpPr txBox="1"/>
          <p:nvPr/>
        </p:nvSpPr>
        <p:spPr>
          <a:xfrm>
            <a:off x="566928" y="4709160"/>
            <a:ext cx="4480560" cy="420624"/>
          </a:xfrm>
          <a:prstGeom prst="rect">
            <a:avLst/>
          </a:prstGeom>
          <a:noFill/>
          <a:ln/>
        </p:spPr>
        <p:txBody>
          <a:bodyPr wrap="square" lIns="0" tIns="0" rIns="0" bIns="0" rtlCol="0" anchor="ctr"/>
          <a:lstStyle/>
          <a:p>
            <a:pPr algn="ctr" indent="0" marL="0">
              <a:buNone/>
            </a:pPr>
            <a:r>
              <a:rPr lang="en-US" sz="1100" b="1" spc="140" kern="0" dirty="0">
                <a:solidFill>
                  <a:srgbClr val="F9F4ED"/>
                </a:solidFill>
                <a:latin typeface="Calibri" pitchFamily="34" charset="0"/>
                <a:ea typeface="Calibri" pitchFamily="34" charset="-122"/>
                <a:cs typeface="Calibri" pitchFamily="34" charset="-120"/>
              </a:rPr>
              <a:t>A YEAR 10 CONCEPT  ·  NOT YET FOR SALE</a:t>
            </a:r>
            <a:endParaRPr lang="en-US" sz="1100" dirty="0"/>
          </a:p>
        </p:txBody>
      </p:sp>
      <p:pic>
        <p:nvPicPr>
          <p:cNvPr id="12" name="Image 0" descr="img-hero.png">    </p:cNvPr>
          <p:cNvPicPr>
            <a:picLocks noChangeAspect="1"/>
          </p:cNvPicPr>
          <p:nvPr/>
        </p:nvPicPr>
        <p:blipFill>
          <a:blip r:embed="rId1"/>
          <a:stretch>
            <a:fillRect/>
          </a:stretch>
        </p:blipFill>
        <p:spPr>
          <a:xfrm>
            <a:off x="6858000" y="1371600"/>
            <a:ext cx="4754880" cy="3346704"/>
          </a:xfrm>
          <a:prstGeom prst="rect">
            <a:avLst/>
          </a:prstGeom>
        </p:spPr>
      </p:pic>
      <p:sp>
        <p:nvSpPr>
          <p:cNvPr id="13" name="Text 10"/>
          <p:cNvSpPr txBox="1"/>
          <p:nvPr/>
        </p:nvSpPr>
        <p:spPr>
          <a:xfrm>
            <a:off x="566928" y="5943600"/>
            <a:ext cx="5486400" cy="320040"/>
          </a:xfrm>
          <a:prstGeom prst="rect">
            <a:avLst/>
          </a:prstGeom>
          <a:noFill/>
          <a:ln/>
        </p:spPr>
        <p:txBody>
          <a:bodyPr wrap="square" lIns="0" tIns="0" rIns="0" bIns="0" rtlCol="0" anchor="ctr"/>
          <a:lstStyle/>
          <a:p>
            <a:pPr indent="0" marL="0">
              <a:buNone/>
            </a:pPr>
            <a:r>
              <a:rPr lang="en-US" sz="1200" dirty="0">
                <a:solidFill>
                  <a:srgbClr val="C0B6A5"/>
                </a:solidFill>
                <a:latin typeface="Calibri" pitchFamily="34" charset="0"/>
                <a:ea typeface="Calibri" pitchFamily="34" charset="-122"/>
                <a:cs typeface="Calibri" pitchFamily="34" charset="-120"/>
              </a:rPr>
              <a:t>kohan1.github.io/NutriBrick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AD8"/>
        </a:solidFill>
      </p:bgPr>
    </p:bg>
    <p:spTree>
      <p:nvGrpSpPr>
        <p:cNvPr id="1" name=""/>
        <p:cNvGrpSpPr/>
        <p:nvPr/>
      </p:nvGrpSpPr>
      <p:grpSpPr>
        <a:xfrm>
          <a:off x="0" y="0"/>
          <a:ext cx="0" cy="0"/>
          <a:chOff x="0" y="0"/>
          <a:chExt cx="0" cy="0"/>
        </a:xfrm>
      </p:grpSpPr>
      <p:sp>
        <p:nvSpPr>
          <p:cNvPr id="2" name="Shape 0"/>
          <p:cNvSpPr/>
          <p:nvPr/>
        </p:nvSpPr>
        <p:spPr>
          <a:xfrm>
            <a:off x="566928" y="566928"/>
            <a:ext cx="1737360" cy="384048"/>
          </a:xfrm>
          <a:prstGeom prst="roundRect">
            <a:avLst>
              <a:gd name="adj" fmla="val 119048"/>
            </a:avLst>
          </a:prstGeom>
          <a:solidFill>
            <a:srgbClr val="402310"/>
          </a:solidFill>
          <a:ln w="25400">
            <a:solidFill>
              <a:srgbClr val="402310"/>
            </a:solidFill>
            <a:prstDash val="solid"/>
          </a:ln>
        </p:spPr>
      </p:sp>
      <p:sp>
        <p:nvSpPr>
          <p:cNvPr id="3" name="Text 1"/>
          <p:cNvSpPr txBox="1"/>
          <p:nvPr/>
        </p:nvSpPr>
        <p:spPr>
          <a:xfrm>
            <a:off x="566928" y="566928"/>
            <a:ext cx="1737360" cy="384048"/>
          </a:xfrm>
          <a:prstGeom prst="rect">
            <a:avLst/>
          </a:prstGeom>
          <a:noFill/>
          <a:ln/>
        </p:spPr>
        <p:txBody>
          <a:bodyPr wrap="square" lIns="0" tIns="0" rIns="0" bIns="0" rtlCol="0" anchor="ctr"/>
          <a:lstStyle/>
          <a:p>
            <a:pPr algn="ctr" indent="0" marL="0">
              <a:buNone/>
            </a:pPr>
            <a:r>
              <a:rPr lang="en-US" sz="1100" b="1" spc="140" kern="0" dirty="0">
                <a:solidFill>
                  <a:srgbClr val="F9F4ED"/>
                </a:solidFill>
                <a:latin typeface="Calibri" pitchFamily="34" charset="0"/>
                <a:ea typeface="Calibri" pitchFamily="34" charset="-122"/>
                <a:cs typeface="Calibri" pitchFamily="34" charset="-120"/>
              </a:rPr>
              <a:t>THE PROBLEM</a:t>
            </a:r>
            <a:endParaRPr lang="en-US" sz="1100" dirty="0"/>
          </a:p>
        </p:txBody>
      </p:sp>
      <p:sp>
        <p:nvSpPr>
          <p:cNvPr id="4" name="Text 2"/>
          <p:cNvSpPr txBox="1"/>
          <p:nvPr/>
        </p:nvSpPr>
        <p:spPr>
          <a:xfrm>
            <a:off x="566928" y="1143000"/>
            <a:ext cx="7315200" cy="731520"/>
          </a:xfrm>
          <a:prstGeom prst="rect">
            <a:avLst/>
          </a:prstGeom>
          <a:noFill/>
          <a:ln/>
        </p:spPr>
        <p:txBody>
          <a:bodyPr wrap="square" lIns="0" tIns="0" rIns="0" bIns="0" rtlCol="0" anchor="ctr"/>
          <a:lstStyle/>
          <a:p>
            <a:pPr indent="0" marL="0">
              <a:buNone/>
            </a:pPr>
            <a:r>
              <a:rPr lang="en-US" sz="3300" b="1" dirty="0">
                <a:solidFill>
                  <a:srgbClr val="402310"/>
                </a:solidFill>
                <a:latin typeface="Bookman Old Style" pitchFamily="34" charset="0"/>
                <a:ea typeface="Bookman Old Style" pitchFamily="34" charset="-122"/>
                <a:cs typeface="Bookman Old Style" pitchFamily="34" charset="-120"/>
              </a:rPr>
              <a:t>The gap is real, and it is big.</a:t>
            </a:r>
            <a:endParaRPr lang="en-US" sz="3300" dirty="0"/>
          </a:p>
        </p:txBody>
      </p:sp>
      <p:sp>
        <p:nvSpPr>
          <p:cNvPr id="5" name="Shape 3"/>
          <p:cNvSpPr/>
          <p:nvPr/>
        </p:nvSpPr>
        <p:spPr>
          <a:xfrm>
            <a:off x="566928" y="2240280"/>
            <a:ext cx="3749040" cy="3108960"/>
          </a:xfrm>
          <a:prstGeom prst="roundRect">
            <a:avLst>
              <a:gd name="adj" fmla="val 5294"/>
            </a:avLst>
          </a:prstGeom>
          <a:solidFill>
            <a:srgbClr val="FFF2EB"/>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6" name="Text 4"/>
          <p:cNvSpPr txBox="1"/>
          <p:nvPr/>
        </p:nvSpPr>
        <p:spPr>
          <a:xfrm>
            <a:off x="950976" y="2743200"/>
            <a:ext cx="3017520" cy="1097280"/>
          </a:xfrm>
          <a:prstGeom prst="rect">
            <a:avLst/>
          </a:prstGeom>
          <a:noFill/>
          <a:ln/>
        </p:spPr>
        <p:txBody>
          <a:bodyPr wrap="square" lIns="0" tIns="0" rIns="0" bIns="0" rtlCol="0" anchor="ctr"/>
          <a:lstStyle/>
          <a:p>
            <a:pPr indent="0" marL="0">
              <a:buNone/>
            </a:pPr>
            <a:r>
              <a:rPr lang="en-US" sz="6000" b="1" dirty="0">
                <a:solidFill>
                  <a:srgbClr val="B2622D"/>
                </a:solidFill>
                <a:latin typeface="Bookman Old Style" pitchFamily="34" charset="0"/>
                <a:ea typeface="Bookman Old Style" pitchFamily="34" charset="-122"/>
                <a:cs typeface="Bookman Old Style" pitchFamily="34" charset="-120"/>
              </a:rPr>
              <a:t>1M+</a:t>
            </a:r>
            <a:endParaRPr lang="en-US" sz="6000" dirty="0"/>
          </a:p>
        </p:txBody>
      </p:sp>
      <p:sp>
        <p:nvSpPr>
          <p:cNvPr id="7" name="Text 5"/>
          <p:cNvSpPr txBox="1"/>
          <p:nvPr/>
        </p:nvSpPr>
        <p:spPr>
          <a:xfrm>
            <a:off x="950976" y="3977640"/>
            <a:ext cx="3108960" cy="914400"/>
          </a:xfrm>
          <a:prstGeom prst="rect">
            <a:avLst/>
          </a:prstGeom>
          <a:noFill/>
          <a:ln/>
        </p:spPr>
        <p:txBody>
          <a:bodyPr wrap="square" lIns="0" tIns="0" rIns="0" bIns="0" rtlCol="0" anchor="ctr"/>
          <a:lstStyle/>
          <a:p>
            <a:pPr indent="0" marL="0">
              <a:lnSpc>
                <a:spcPts val="2200"/>
              </a:lnSpc>
              <a:buNone/>
            </a:pPr>
            <a:r>
              <a:rPr lang="en-US" sz="1550" dirty="0">
                <a:solidFill>
                  <a:srgbClr val="2E2B25"/>
                </a:solidFill>
                <a:latin typeface="Calibri" pitchFamily="34" charset="0"/>
                <a:ea typeface="Calibri" pitchFamily="34" charset="-122"/>
                <a:cs typeface="Calibri" pitchFamily="34" charset="-120"/>
              </a:rPr>
              <a:t>children in Australia</a:t>
            </a:r>
            <a:endParaRPr lang="en-US" sz="1550" dirty="0"/>
          </a:p>
          <a:p>
            <a:pPr indent="0" marL="0">
              <a:lnSpc>
                <a:spcPts val="2200"/>
              </a:lnSpc>
              <a:buNone/>
            </a:pPr>
            <a:r>
              <a:rPr lang="en-US" sz="1550" dirty="0">
                <a:solidFill>
                  <a:srgbClr val="2E2B25"/>
                </a:solidFill>
                <a:latin typeface="Calibri" pitchFamily="34" charset="0"/>
                <a:ea typeface="Calibri" pitchFamily="34" charset="-122"/>
                <a:cs typeface="Calibri" pitchFamily="34" charset="-120"/>
              </a:rPr>
              <a:t>are unhealthy</a:t>
            </a:r>
            <a:endParaRPr lang="en-US" sz="1550" dirty="0"/>
          </a:p>
        </p:txBody>
      </p:sp>
      <p:sp>
        <p:nvSpPr>
          <p:cNvPr id="8" name="Shape 6"/>
          <p:cNvSpPr/>
          <p:nvPr/>
        </p:nvSpPr>
        <p:spPr>
          <a:xfrm>
            <a:off x="4636008" y="2240280"/>
            <a:ext cx="3749040" cy="3108960"/>
          </a:xfrm>
          <a:prstGeom prst="roundRect">
            <a:avLst>
              <a:gd name="adj" fmla="val 5294"/>
            </a:avLst>
          </a:prstGeom>
          <a:solidFill>
            <a:srgbClr val="F0FAE1"/>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9" name="Text 7"/>
          <p:cNvSpPr txBox="1"/>
          <p:nvPr/>
        </p:nvSpPr>
        <p:spPr>
          <a:xfrm>
            <a:off x="5020056" y="2743200"/>
            <a:ext cx="3017520" cy="1097280"/>
          </a:xfrm>
          <a:prstGeom prst="rect">
            <a:avLst/>
          </a:prstGeom>
          <a:noFill/>
          <a:ln/>
        </p:spPr>
        <p:txBody>
          <a:bodyPr wrap="square" lIns="0" tIns="0" rIns="0" bIns="0" rtlCol="0" anchor="ctr"/>
          <a:lstStyle/>
          <a:p>
            <a:pPr indent="0" marL="0">
              <a:buNone/>
            </a:pPr>
            <a:r>
              <a:rPr lang="en-US" sz="6000" b="1" dirty="0">
                <a:solidFill>
                  <a:srgbClr val="728157"/>
                </a:solidFill>
                <a:latin typeface="Bookman Old Style" pitchFamily="34" charset="0"/>
                <a:ea typeface="Bookman Old Style" pitchFamily="34" charset="-122"/>
                <a:cs typeface="Bookman Old Style" pitchFamily="34" charset="-120"/>
              </a:rPr>
              <a:t>95%</a:t>
            </a:r>
            <a:endParaRPr lang="en-US" sz="6000" dirty="0"/>
          </a:p>
        </p:txBody>
      </p:sp>
      <p:sp>
        <p:nvSpPr>
          <p:cNvPr id="10" name="Text 8"/>
          <p:cNvSpPr txBox="1"/>
          <p:nvPr/>
        </p:nvSpPr>
        <p:spPr>
          <a:xfrm>
            <a:off x="5020056" y="3977640"/>
            <a:ext cx="3108960" cy="914400"/>
          </a:xfrm>
          <a:prstGeom prst="rect">
            <a:avLst/>
          </a:prstGeom>
          <a:noFill/>
          <a:ln/>
        </p:spPr>
        <p:txBody>
          <a:bodyPr wrap="square" lIns="0" tIns="0" rIns="0" bIns="0" rtlCol="0" anchor="ctr"/>
          <a:lstStyle/>
          <a:p>
            <a:pPr indent="0" marL="0">
              <a:lnSpc>
                <a:spcPts val="2200"/>
              </a:lnSpc>
              <a:buNone/>
            </a:pPr>
            <a:r>
              <a:rPr lang="en-US" sz="1550" dirty="0">
                <a:solidFill>
                  <a:srgbClr val="2E2B25"/>
                </a:solidFill>
                <a:latin typeface="Calibri" pitchFamily="34" charset="0"/>
                <a:ea typeface="Calibri" pitchFamily="34" charset="-122"/>
                <a:cs typeface="Calibri" pitchFamily="34" charset="-120"/>
              </a:rPr>
              <a:t>are not meeting their daily</a:t>
            </a:r>
            <a:endParaRPr lang="en-US" sz="1550" dirty="0"/>
          </a:p>
          <a:p>
            <a:pPr indent="0" marL="0">
              <a:lnSpc>
                <a:spcPts val="2200"/>
              </a:lnSpc>
              <a:buNone/>
            </a:pPr>
            <a:r>
              <a:rPr lang="en-US" sz="1550" dirty="0">
                <a:solidFill>
                  <a:srgbClr val="2E2B25"/>
                </a:solidFill>
                <a:latin typeface="Calibri" pitchFamily="34" charset="0"/>
                <a:ea typeface="Calibri" pitchFamily="34" charset="-122"/>
                <a:cs typeface="Calibri" pitchFamily="34" charset="-120"/>
              </a:rPr>
              <a:t>macronutrient targets</a:t>
            </a:r>
            <a:endParaRPr lang="en-US" sz="1550" dirty="0"/>
          </a:p>
        </p:txBody>
      </p:sp>
      <p:sp>
        <p:nvSpPr>
          <p:cNvPr id="11" name="Shape 9"/>
          <p:cNvSpPr/>
          <p:nvPr/>
        </p:nvSpPr>
        <p:spPr>
          <a:xfrm>
            <a:off x="8705088" y="2240280"/>
            <a:ext cx="2926080" cy="3108960"/>
          </a:xfrm>
          <a:prstGeom prst="roundRect">
            <a:avLst>
              <a:gd name="adj" fmla="val 5625"/>
            </a:avLst>
          </a:prstGeom>
          <a:solidFill>
            <a:srgbClr val="402310"/>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12" name="Text 10"/>
          <p:cNvSpPr txBox="1"/>
          <p:nvPr/>
        </p:nvSpPr>
        <p:spPr>
          <a:xfrm>
            <a:off x="8997696" y="2743200"/>
            <a:ext cx="2468880" cy="1371600"/>
          </a:xfrm>
          <a:prstGeom prst="rect">
            <a:avLst/>
          </a:prstGeom>
          <a:noFill/>
          <a:ln/>
        </p:spPr>
        <p:txBody>
          <a:bodyPr wrap="square" lIns="0" tIns="0" rIns="0" bIns="0" rtlCol="0" anchor="ctr"/>
          <a:lstStyle/>
          <a:p>
            <a:pPr indent="0" marL="0">
              <a:lnSpc>
                <a:spcPts val="2700"/>
              </a:lnSpc>
              <a:buNone/>
            </a:pPr>
            <a:r>
              <a:rPr lang="en-US" sz="2100" b="1" dirty="0">
                <a:solidFill>
                  <a:srgbClr val="F9F4ED"/>
                </a:solidFill>
                <a:latin typeface="Bookman Old Style" pitchFamily="34" charset="0"/>
                <a:ea typeface="Bookman Old Style" pitchFamily="34" charset="-122"/>
                <a:cs typeface="Bookman Old Style" pitchFamily="34" charset="-120"/>
              </a:rPr>
              <a:t>Parents already</a:t>
            </a:r>
            <a:endParaRPr lang="en-US" sz="2100" dirty="0"/>
          </a:p>
          <a:p>
            <a:pPr indent="0" marL="0">
              <a:lnSpc>
                <a:spcPts val="2700"/>
              </a:lnSpc>
              <a:buNone/>
            </a:pPr>
            <a:r>
              <a:rPr lang="en-US" sz="2100" b="1" dirty="0">
                <a:solidFill>
                  <a:srgbClr val="F9F4ED"/>
                </a:solidFill>
                <a:latin typeface="Bookman Old Style" pitchFamily="34" charset="0"/>
                <a:ea typeface="Bookman Old Style" pitchFamily="34" charset="-122"/>
                <a:cs typeface="Bookman Old Style" pitchFamily="34" charset="-120"/>
              </a:rPr>
              <a:t>know what is</a:t>
            </a:r>
            <a:endParaRPr lang="en-US" sz="2100" dirty="0"/>
          </a:p>
          <a:p>
            <a:pPr indent="0" marL="0">
              <a:lnSpc>
                <a:spcPts val="2700"/>
              </a:lnSpc>
              <a:buNone/>
            </a:pPr>
            <a:r>
              <a:rPr lang="en-US" sz="2100" b="1" dirty="0">
                <a:solidFill>
                  <a:srgbClr val="F9F4ED"/>
                </a:solidFill>
                <a:latin typeface="Bookman Old Style" pitchFamily="34" charset="0"/>
                <a:ea typeface="Bookman Old Style" pitchFamily="34" charset="-122"/>
                <a:cs typeface="Bookman Old Style" pitchFamily="34" charset="-120"/>
              </a:rPr>
              <a:t>healthy.</a:t>
            </a:r>
            <a:endParaRPr lang="en-US" sz="2100" dirty="0"/>
          </a:p>
        </p:txBody>
      </p:sp>
      <p:sp>
        <p:nvSpPr>
          <p:cNvPr id="13" name="Text 11"/>
          <p:cNvSpPr txBox="1"/>
          <p:nvPr/>
        </p:nvSpPr>
        <p:spPr>
          <a:xfrm>
            <a:off x="8997696" y="4206240"/>
            <a:ext cx="2468880" cy="731520"/>
          </a:xfrm>
          <a:prstGeom prst="rect">
            <a:avLst/>
          </a:prstGeom>
          <a:noFill/>
          <a:ln/>
        </p:spPr>
        <p:txBody>
          <a:bodyPr wrap="square" lIns="0" tIns="0" rIns="0" bIns="0" rtlCol="0" anchor="ctr"/>
          <a:lstStyle/>
          <a:p>
            <a:pPr indent="0" marL="0">
              <a:lnSpc>
                <a:spcPts val="2000"/>
              </a:lnSpc>
              <a:buNone/>
            </a:pPr>
            <a:r>
              <a:rPr lang="en-US" sz="1350" dirty="0">
                <a:solidFill>
                  <a:srgbClr val="FFE1D0"/>
                </a:solidFill>
                <a:latin typeface="Calibri" pitchFamily="34" charset="0"/>
                <a:ea typeface="Calibri" pitchFamily="34" charset="-122"/>
                <a:cs typeface="Calibri" pitchFamily="34" charset="-120"/>
              </a:rPr>
              <a:t>The problem is not</a:t>
            </a:r>
            <a:endParaRPr lang="en-US" sz="1350" dirty="0"/>
          </a:p>
          <a:p>
            <a:pPr indent="0" marL="0">
              <a:lnSpc>
                <a:spcPts val="2000"/>
              </a:lnSpc>
              <a:buNone/>
            </a:pPr>
            <a:r>
              <a:rPr lang="en-US" sz="1350" dirty="0">
                <a:solidFill>
                  <a:srgbClr val="FFE1D0"/>
                </a:solidFill>
                <a:latin typeface="Calibri" pitchFamily="34" charset="0"/>
                <a:ea typeface="Calibri" pitchFamily="34" charset="-122"/>
                <a:cs typeface="Calibri" pitchFamily="34" charset="-120"/>
              </a:rPr>
              <a:t>information.</a:t>
            </a:r>
            <a:endParaRPr lang="en-US" sz="1350" dirty="0"/>
          </a:p>
        </p:txBody>
      </p:sp>
      <p:sp>
        <p:nvSpPr>
          <p:cNvPr id="14" name="Text 12"/>
          <p:cNvSpPr txBox="1"/>
          <p:nvPr/>
        </p:nvSpPr>
        <p:spPr>
          <a:xfrm>
            <a:off x="566928" y="5715000"/>
            <a:ext cx="7315200" cy="274320"/>
          </a:xfrm>
          <a:prstGeom prst="rect">
            <a:avLst/>
          </a:prstGeom>
          <a:noFill/>
          <a:ln/>
        </p:spPr>
        <p:txBody>
          <a:bodyPr wrap="square" lIns="0" tIns="0" rIns="0" bIns="0" rtlCol="0" anchor="ctr"/>
          <a:lstStyle/>
          <a:p>
            <a:pPr indent="0" marL="0">
              <a:buNone/>
            </a:pPr>
            <a:r>
              <a:rPr lang="en-US" sz="1050" i="1" dirty="0">
                <a:solidFill>
                  <a:srgbClr val="82796A"/>
                </a:solidFill>
                <a:latin typeface="Calibri" pitchFamily="34" charset="0"/>
                <a:ea typeface="Calibri" pitchFamily="34" charset="-122"/>
                <a:cs typeface="Calibri" pitchFamily="34" charset="-120"/>
              </a:rPr>
              <a:t>Source: team problem statement — verify before presenting.</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E1D0"/>
        </a:solidFill>
      </p:bgPr>
    </p:bg>
    <p:spTree>
      <p:nvGrpSpPr>
        <p:cNvPr id="1" name=""/>
        <p:cNvGrpSpPr/>
        <p:nvPr/>
      </p:nvGrpSpPr>
      <p:grpSpPr>
        <a:xfrm>
          <a:off x="0" y="0"/>
          <a:ext cx="0" cy="0"/>
          <a:chOff x="0" y="0"/>
          <a:chExt cx="0" cy="0"/>
        </a:xfrm>
      </p:grpSpPr>
      <p:sp>
        <p:nvSpPr>
          <p:cNvPr id="2" name="Shape 0"/>
          <p:cNvSpPr/>
          <p:nvPr/>
        </p:nvSpPr>
        <p:spPr>
          <a:xfrm>
            <a:off x="566928" y="566928"/>
            <a:ext cx="1645920" cy="384048"/>
          </a:xfrm>
          <a:prstGeom prst="roundRect">
            <a:avLst>
              <a:gd name="adj" fmla="val 119048"/>
            </a:avLst>
          </a:prstGeom>
          <a:solidFill>
            <a:srgbClr val="402310"/>
          </a:solidFill>
          <a:ln w="25400">
            <a:solidFill>
              <a:srgbClr val="402310"/>
            </a:solidFill>
            <a:prstDash val="solid"/>
          </a:ln>
        </p:spPr>
      </p:sp>
      <p:sp>
        <p:nvSpPr>
          <p:cNvPr id="3" name="Text 1"/>
          <p:cNvSpPr txBox="1"/>
          <p:nvPr/>
        </p:nvSpPr>
        <p:spPr>
          <a:xfrm>
            <a:off x="566928" y="566928"/>
            <a:ext cx="1645920" cy="384048"/>
          </a:xfrm>
          <a:prstGeom prst="rect">
            <a:avLst/>
          </a:prstGeom>
          <a:noFill/>
          <a:ln/>
        </p:spPr>
        <p:txBody>
          <a:bodyPr wrap="square" lIns="0" tIns="0" rIns="0" bIns="0" rtlCol="0" anchor="ctr"/>
          <a:lstStyle/>
          <a:p>
            <a:pPr algn="ctr" indent="0" marL="0">
              <a:buNone/>
            </a:pPr>
            <a:r>
              <a:rPr lang="en-US" sz="1100" b="1" spc="140" kern="0" dirty="0">
                <a:solidFill>
                  <a:srgbClr val="F9F4ED"/>
                </a:solidFill>
                <a:latin typeface="Calibri" pitchFamily="34" charset="0"/>
                <a:ea typeface="Calibri" pitchFamily="34" charset="-122"/>
                <a:cs typeface="Calibri" pitchFamily="34" charset="-120"/>
              </a:rPr>
              <a:t>EVERY NIGHT</a:t>
            </a:r>
            <a:endParaRPr lang="en-US" sz="1100" dirty="0"/>
          </a:p>
        </p:txBody>
      </p:sp>
      <p:sp>
        <p:nvSpPr>
          <p:cNvPr id="4" name="Text 2"/>
          <p:cNvSpPr txBox="1"/>
          <p:nvPr/>
        </p:nvSpPr>
        <p:spPr>
          <a:xfrm>
            <a:off x="566928" y="1097280"/>
            <a:ext cx="7315200" cy="731520"/>
          </a:xfrm>
          <a:prstGeom prst="rect">
            <a:avLst/>
          </a:prstGeom>
          <a:noFill/>
          <a:ln/>
        </p:spPr>
        <p:txBody>
          <a:bodyPr wrap="square" lIns="0" tIns="0" rIns="0" bIns="0" rtlCol="0" anchor="ctr"/>
          <a:lstStyle/>
          <a:p>
            <a:pPr indent="0" marL="0">
              <a:buNone/>
            </a:pPr>
            <a:r>
              <a:rPr lang="en-US" sz="3300" b="1" dirty="0">
                <a:solidFill>
                  <a:srgbClr val="402310"/>
                </a:solidFill>
                <a:latin typeface="Bookman Old Style" pitchFamily="34" charset="0"/>
                <a:ea typeface="Bookman Old Style" pitchFamily="34" charset="-122"/>
                <a:cs typeface="Bookman Old Style" pitchFamily="34" charset="-120"/>
              </a:rPr>
              <a:t>Dinner is a negotiation.</a:t>
            </a:r>
            <a:endParaRPr lang="en-US" sz="3300" dirty="0"/>
          </a:p>
        </p:txBody>
      </p:sp>
      <p:sp>
        <p:nvSpPr>
          <p:cNvPr id="5" name="Shape 3"/>
          <p:cNvSpPr/>
          <p:nvPr/>
        </p:nvSpPr>
        <p:spPr>
          <a:xfrm>
            <a:off x="566928" y="2240280"/>
            <a:ext cx="6858000" cy="969264"/>
          </a:xfrm>
          <a:prstGeom prst="roundRect">
            <a:avLst>
              <a:gd name="adj" fmla="val 50000"/>
            </a:avLst>
          </a:prstGeom>
          <a:solidFill>
            <a:srgbClr val="FFF2EB"/>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6" name="Text 4"/>
          <p:cNvSpPr txBox="1"/>
          <p:nvPr/>
        </p:nvSpPr>
        <p:spPr>
          <a:xfrm>
            <a:off x="914400" y="2240280"/>
            <a:ext cx="457200" cy="969264"/>
          </a:xfrm>
          <a:prstGeom prst="rect">
            <a:avLst/>
          </a:prstGeom>
          <a:noFill/>
          <a:ln/>
        </p:spPr>
        <p:txBody>
          <a:bodyPr wrap="square" lIns="0" tIns="0" rIns="0" bIns="0" rtlCol="0" anchor="ctr"/>
          <a:lstStyle/>
          <a:p>
            <a:pPr indent="0" marL="0">
              <a:buNone/>
            </a:pPr>
            <a:r>
              <a:rPr lang="en-US" sz="2800" b="1" dirty="0">
                <a:solidFill>
                  <a:srgbClr val="B2622D"/>
                </a:solidFill>
                <a:latin typeface="Bookman Old Style" pitchFamily="34" charset="0"/>
                <a:ea typeface="Bookman Old Style" pitchFamily="34" charset="-122"/>
                <a:cs typeface="Bookman Old Style" pitchFamily="34" charset="-120"/>
              </a:rPr>
              <a:t>1</a:t>
            </a:r>
            <a:endParaRPr lang="en-US" sz="2800" dirty="0"/>
          </a:p>
        </p:txBody>
      </p:sp>
      <p:sp>
        <p:nvSpPr>
          <p:cNvPr id="7" name="Text 5"/>
          <p:cNvSpPr txBox="1"/>
          <p:nvPr/>
        </p:nvSpPr>
        <p:spPr>
          <a:xfrm>
            <a:off x="1527048" y="2240280"/>
            <a:ext cx="5669280" cy="969264"/>
          </a:xfrm>
          <a:prstGeom prst="rect">
            <a:avLst/>
          </a:prstGeom>
          <a:noFill/>
          <a:ln/>
        </p:spPr>
        <p:txBody>
          <a:bodyPr wrap="square" lIns="0" tIns="0" rIns="0" bIns="0" rtlCol="0" anchor="ctr"/>
          <a:lstStyle/>
          <a:p>
            <a:pPr indent="0" marL="0">
              <a:buNone/>
            </a:pPr>
            <a:r>
              <a:rPr lang="en-US" sz="1650" dirty="0">
                <a:solidFill>
                  <a:srgbClr val="2E2B25"/>
                </a:solidFill>
                <a:latin typeface="Calibri" pitchFamily="34" charset="0"/>
                <a:ea typeface="Calibri" pitchFamily="34" charset="-122"/>
                <a:cs typeface="Calibri" pitchFamily="34" charset="-120"/>
              </a:rPr>
              <a:t>The snack goes in the bin, untouched.</a:t>
            </a:r>
            <a:endParaRPr lang="en-US" sz="1650" dirty="0"/>
          </a:p>
        </p:txBody>
      </p:sp>
      <p:sp>
        <p:nvSpPr>
          <p:cNvPr id="8" name="Shape 6"/>
          <p:cNvSpPr/>
          <p:nvPr/>
        </p:nvSpPr>
        <p:spPr>
          <a:xfrm>
            <a:off x="566928" y="3447288"/>
            <a:ext cx="6858000" cy="969264"/>
          </a:xfrm>
          <a:prstGeom prst="roundRect">
            <a:avLst>
              <a:gd name="adj" fmla="val 50000"/>
            </a:avLst>
          </a:prstGeom>
          <a:solidFill>
            <a:srgbClr val="FFF2EB"/>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9" name="Text 7"/>
          <p:cNvSpPr txBox="1"/>
          <p:nvPr/>
        </p:nvSpPr>
        <p:spPr>
          <a:xfrm>
            <a:off x="914400" y="3447288"/>
            <a:ext cx="457200" cy="969264"/>
          </a:xfrm>
          <a:prstGeom prst="rect">
            <a:avLst/>
          </a:prstGeom>
          <a:noFill/>
          <a:ln/>
        </p:spPr>
        <p:txBody>
          <a:bodyPr wrap="square" lIns="0" tIns="0" rIns="0" bIns="0" rtlCol="0" anchor="ctr"/>
          <a:lstStyle/>
          <a:p>
            <a:pPr indent="0" marL="0">
              <a:buNone/>
            </a:pPr>
            <a:r>
              <a:rPr lang="en-US" sz="2800" b="1" dirty="0">
                <a:solidFill>
                  <a:srgbClr val="B2622D"/>
                </a:solidFill>
                <a:latin typeface="Bookman Old Style" pitchFamily="34" charset="0"/>
                <a:ea typeface="Bookman Old Style" pitchFamily="34" charset="-122"/>
                <a:cs typeface="Bookman Old Style" pitchFamily="34" charset="-120"/>
              </a:rPr>
              <a:t>2</a:t>
            </a:r>
            <a:endParaRPr lang="en-US" sz="2800" dirty="0"/>
          </a:p>
        </p:txBody>
      </p:sp>
      <p:sp>
        <p:nvSpPr>
          <p:cNvPr id="10" name="Text 8"/>
          <p:cNvSpPr txBox="1"/>
          <p:nvPr/>
        </p:nvSpPr>
        <p:spPr>
          <a:xfrm>
            <a:off x="1527048" y="3447288"/>
            <a:ext cx="5669280" cy="969264"/>
          </a:xfrm>
          <a:prstGeom prst="rect">
            <a:avLst/>
          </a:prstGeom>
          <a:noFill/>
          <a:ln/>
        </p:spPr>
        <p:txBody>
          <a:bodyPr wrap="square" lIns="0" tIns="0" rIns="0" bIns="0" rtlCol="0" anchor="ctr"/>
          <a:lstStyle/>
          <a:p>
            <a:pPr indent="0" marL="0">
              <a:buNone/>
            </a:pPr>
            <a:r>
              <a:rPr lang="en-US" sz="1650" dirty="0">
                <a:solidFill>
                  <a:srgbClr val="2E2B25"/>
                </a:solidFill>
                <a:latin typeface="Calibri" pitchFamily="34" charset="0"/>
                <a:ea typeface="Calibri" pitchFamily="34" charset="-122"/>
                <a:cs typeface="Calibri" pitchFamily="34" charset="-120"/>
              </a:rPr>
              <a:t>Something sweet gets negotiated in.</a:t>
            </a:r>
            <a:endParaRPr lang="en-US" sz="1650" dirty="0"/>
          </a:p>
        </p:txBody>
      </p:sp>
      <p:sp>
        <p:nvSpPr>
          <p:cNvPr id="11" name="Shape 9"/>
          <p:cNvSpPr/>
          <p:nvPr/>
        </p:nvSpPr>
        <p:spPr>
          <a:xfrm>
            <a:off x="566928" y="4654296"/>
            <a:ext cx="6858000" cy="969264"/>
          </a:xfrm>
          <a:prstGeom prst="roundRect">
            <a:avLst>
              <a:gd name="adj" fmla="val 50000"/>
            </a:avLst>
          </a:prstGeom>
          <a:solidFill>
            <a:srgbClr val="E1EECC"/>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12" name="Text 10"/>
          <p:cNvSpPr txBox="1"/>
          <p:nvPr/>
        </p:nvSpPr>
        <p:spPr>
          <a:xfrm>
            <a:off x="914400" y="4654296"/>
            <a:ext cx="457200" cy="969264"/>
          </a:xfrm>
          <a:prstGeom prst="rect">
            <a:avLst/>
          </a:prstGeom>
          <a:noFill/>
          <a:ln/>
        </p:spPr>
        <p:txBody>
          <a:bodyPr wrap="square" lIns="0" tIns="0" rIns="0" bIns="0" rtlCol="0" anchor="ctr"/>
          <a:lstStyle/>
          <a:p>
            <a:pPr indent="0" marL="0">
              <a:buNone/>
            </a:pPr>
            <a:r>
              <a:rPr lang="en-US" sz="2800" b="1" dirty="0">
                <a:solidFill>
                  <a:srgbClr val="728157"/>
                </a:solidFill>
                <a:latin typeface="Bookman Old Style" pitchFamily="34" charset="0"/>
                <a:ea typeface="Bookman Old Style" pitchFamily="34" charset="-122"/>
                <a:cs typeface="Bookman Old Style" pitchFamily="34" charset="-120"/>
              </a:rPr>
              <a:t>3</a:t>
            </a:r>
            <a:endParaRPr lang="en-US" sz="2800" dirty="0"/>
          </a:p>
        </p:txBody>
      </p:sp>
      <p:sp>
        <p:nvSpPr>
          <p:cNvPr id="13" name="Text 11"/>
          <p:cNvSpPr txBox="1"/>
          <p:nvPr/>
        </p:nvSpPr>
        <p:spPr>
          <a:xfrm>
            <a:off x="1527048" y="4654296"/>
            <a:ext cx="5669280" cy="969264"/>
          </a:xfrm>
          <a:prstGeom prst="rect">
            <a:avLst/>
          </a:prstGeom>
          <a:noFill/>
          <a:ln/>
        </p:spPr>
        <p:txBody>
          <a:bodyPr wrap="square" lIns="0" tIns="0" rIns="0" bIns="0" rtlCol="0" anchor="ctr"/>
          <a:lstStyle/>
          <a:p>
            <a:pPr indent="0" marL="0">
              <a:buNone/>
            </a:pPr>
            <a:r>
              <a:rPr lang="en-US" sz="1650" dirty="0">
                <a:solidFill>
                  <a:srgbClr val="2E2B25"/>
                </a:solidFill>
                <a:latin typeface="Calibri" pitchFamily="34" charset="0"/>
                <a:ea typeface="Calibri" pitchFamily="34" charset="-122"/>
                <a:cs typeface="Calibri" pitchFamily="34" charset="-120"/>
              </a:rPr>
              <a:t>Nobody wins. Repeat tomorrow.</a:t>
            </a:r>
            <a:endParaRPr lang="en-US" sz="1650" dirty="0"/>
          </a:p>
        </p:txBody>
      </p:sp>
      <p:sp>
        <p:nvSpPr>
          <p:cNvPr id="14" name="Shape 12"/>
          <p:cNvSpPr/>
          <p:nvPr/>
        </p:nvSpPr>
        <p:spPr>
          <a:xfrm>
            <a:off x="7955280" y="2240280"/>
            <a:ext cx="3657600" cy="3529584"/>
          </a:xfrm>
          <a:prstGeom prst="roundRect">
            <a:avLst>
              <a:gd name="adj" fmla="val 4663"/>
            </a:avLst>
          </a:prstGeom>
          <a:solidFill>
            <a:srgbClr val="402310"/>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15" name="Text 13"/>
          <p:cNvSpPr txBox="1"/>
          <p:nvPr/>
        </p:nvSpPr>
        <p:spPr>
          <a:xfrm>
            <a:off x="8275320" y="2971800"/>
            <a:ext cx="3108960" cy="2011680"/>
          </a:xfrm>
          <a:prstGeom prst="rect">
            <a:avLst/>
          </a:prstGeom>
          <a:noFill/>
          <a:ln/>
        </p:spPr>
        <p:txBody>
          <a:bodyPr wrap="square" lIns="0" tIns="0" rIns="0" bIns="0" rtlCol="0" anchor="ctr"/>
          <a:lstStyle/>
          <a:p>
            <a:pPr indent="0" marL="0">
              <a:lnSpc>
                <a:spcPts val="3400"/>
              </a:lnSpc>
              <a:buNone/>
            </a:pPr>
            <a:r>
              <a:rPr lang="en-US" sz="2700" b="1" dirty="0">
                <a:solidFill>
                  <a:srgbClr val="F9F4ED"/>
                </a:solidFill>
                <a:latin typeface="Bookman Old Style" pitchFamily="34" charset="0"/>
                <a:ea typeface="Bookman Old Style" pitchFamily="34" charset="-122"/>
                <a:cs typeface="Bookman Old Style" pitchFamily="34" charset="-120"/>
              </a:rPr>
              <a:t>Nagging</a:t>
            </a:r>
            <a:endParaRPr lang="en-US" sz="2700" dirty="0"/>
          </a:p>
          <a:p>
            <a:pPr indent="0" marL="0">
              <a:lnSpc>
                <a:spcPts val="3400"/>
              </a:lnSpc>
              <a:buNone/>
            </a:pPr>
            <a:r>
              <a:rPr lang="en-US" sz="2700" b="1" dirty="0">
                <a:solidFill>
                  <a:srgbClr val="F9F4ED"/>
                </a:solidFill>
                <a:latin typeface="Bookman Old Style" pitchFamily="34" charset="0"/>
                <a:ea typeface="Bookman Old Style" pitchFamily="34" charset="-122"/>
                <a:cs typeface="Bookman Old Style" pitchFamily="34" charset="-120"/>
              </a:rPr>
              <a:t>is not a</a:t>
            </a:r>
            <a:endParaRPr lang="en-US" sz="2700" dirty="0"/>
          </a:p>
          <a:p>
            <a:pPr indent="0" marL="0">
              <a:lnSpc>
                <a:spcPts val="3400"/>
              </a:lnSpc>
              <a:buNone/>
            </a:pPr>
            <a:r>
              <a:rPr lang="en-US" sz="2700" b="1" dirty="0">
                <a:solidFill>
                  <a:srgbClr val="F9F4ED"/>
                </a:solidFill>
                <a:latin typeface="Bookman Old Style" pitchFamily="34" charset="0"/>
                <a:ea typeface="Bookman Old Style" pitchFamily="34" charset="-122"/>
                <a:cs typeface="Bookman Old Style" pitchFamily="34" charset="-120"/>
              </a:rPr>
              <a:t>nutrition plan.</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AE1"/>
        </a:solidFill>
      </p:bgPr>
    </p:bg>
    <p:spTree>
      <p:nvGrpSpPr>
        <p:cNvPr id="1" name=""/>
        <p:cNvGrpSpPr/>
        <p:nvPr/>
      </p:nvGrpSpPr>
      <p:grpSpPr>
        <a:xfrm>
          <a:off x="0" y="0"/>
          <a:ext cx="0" cy="0"/>
          <a:chOff x="0" y="0"/>
          <a:chExt cx="0" cy="0"/>
        </a:xfrm>
      </p:grpSpPr>
      <p:sp>
        <p:nvSpPr>
          <p:cNvPr id="2" name="Shape 0"/>
          <p:cNvSpPr/>
          <p:nvPr/>
        </p:nvSpPr>
        <p:spPr>
          <a:xfrm>
            <a:off x="566928" y="566928"/>
            <a:ext cx="1783080" cy="384048"/>
          </a:xfrm>
          <a:prstGeom prst="roundRect">
            <a:avLst>
              <a:gd name="adj" fmla="val 119048"/>
            </a:avLst>
          </a:prstGeom>
          <a:solidFill>
            <a:srgbClr val="402310"/>
          </a:solidFill>
          <a:ln w="25400">
            <a:solidFill>
              <a:srgbClr val="402310"/>
            </a:solidFill>
            <a:prstDash val="solid"/>
          </a:ln>
        </p:spPr>
      </p:sp>
      <p:sp>
        <p:nvSpPr>
          <p:cNvPr id="3" name="Text 1"/>
          <p:cNvSpPr txBox="1"/>
          <p:nvPr/>
        </p:nvSpPr>
        <p:spPr>
          <a:xfrm>
            <a:off x="566928" y="566928"/>
            <a:ext cx="1783080" cy="384048"/>
          </a:xfrm>
          <a:prstGeom prst="rect">
            <a:avLst/>
          </a:prstGeom>
          <a:noFill/>
          <a:ln/>
        </p:spPr>
        <p:txBody>
          <a:bodyPr wrap="square" lIns="0" tIns="0" rIns="0" bIns="0" rtlCol="0" anchor="ctr"/>
          <a:lstStyle/>
          <a:p>
            <a:pPr algn="ctr" indent="0" marL="0">
              <a:buNone/>
            </a:pPr>
            <a:r>
              <a:rPr lang="en-US" sz="1100" b="1" spc="140" kern="0" dirty="0">
                <a:solidFill>
                  <a:srgbClr val="F9F4ED"/>
                </a:solidFill>
                <a:latin typeface="Calibri" pitchFamily="34" charset="0"/>
                <a:ea typeface="Calibri" pitchFamily="34" charset="-122"/>
                <a:cs typeface="Calibri" pitchFamily="34" charset="-120"/>
              </a:rPr>
              <a:t>THE PRODUCT</a:t>
            </a:r>
            <a:endParaRPr lang="en-US" sz="1100" dirty="0"/>
          </a:p>
        </p:txBody>
      </p:sp>
      <p:sp>
        <p:nvSpPr>
          <p:cNvPr id="4" name="Text 2"/>
          <p:cNvSpPr txBox="1"/>
          <p:nvPr/>
        </p:nvSpPr>
        <p:spPr>
          <a:xfrm>
            <a:off x="566928" y="1097280"/>
            <a:ext cx="4572000" cy="2286000"/>
          </a:xfrm>
          <a:prstGeom prst="rect">
            <a:avLst/>
          </a:prstGeom>
          <a:noFill/>
          <a:ln/>
        </p:spPr>
        <p:txBody>
          <a:bodyPr wrap="square" lIns="0" tIns="0" rIns="0" bIns="0" rtlCol="0" anchor="ctr"/>
          <a:lstStyle/>
          <a:p>
            <a:pPr indent="0" marL="0">
              <a:lnSpc>
                <a:spcPts val="4600"/>
              </a:lnSpc>
              <a:buNone/>
            </a:pPr>
            <a:r>
              <a:rPr lang="en-US" sz="4000" b="1" dirty="0">
                <a:solidFill>
                  <a:srgbClr val="402310"/>
                </a:solidFill>
                <a:latin typeface="Bookman Old Style" pitchFamily="34" charset="0"/>
                <a:ea typeface="Bookman Old Style" pitchFamily="34" charset="-122"/>
                <a:cs typeface="Bookman Old Style" pitchFamily="34" charset="-120"/>
              </a:rPr>
              <a:t>Build it.</a:t>
            </a:r>
            <a:endParaRPr lang="en-US" sz="4000" dirty="0"/>
          </a:p>
          <a:p>
            <a:pPr indent="0" marL="0">
              <a:lnSpc>
                <a:spcPts val="4600"/>
              </a:lnSpc>
              <a:buNone/>
            </a:pPr>
            <a:r>
              <a:rPr lang="en-US" sz="4000" b="1" dirty="0">
                <a:solidFill>
                  <a:srgbClr val="402310"/>
                </a:solidFill>
                <a:latin typeface="Bookman Old Style" pitchFamily="34" charset="0"/>
                <a:ea typeface="Bookman Old Style" pitchFamily="34" charset="-122"/>
                <a:cs typeface="Bookman Old Style" pitchFamily="34" charset="-120"/>
              </a:rPr>
              <a:t>Stack it.</a:t>
            </a:r>
            <a:endParaRPr lang="en-US" sz="4000" dirty="0"/>
          </a:p>
          <a:p>
            <a:pPr indent="0" marL="0">
              <a:lnSpc>
                <a:spcPts val="4600"/>
              </a:lnSpc>
              <a:buNone/>
            </a:pPr>
            <a:r>
              <a:rPr lang="en-US" sz="4000" b="1" dirty="0">
                <a:solidFill>
                  <a:srgbClr val="402310"/>
                </a:solidFill>
                <a:latin typeface="Bookman Old Style" pitchFamily="34" charset="0"/>
                <a:ea typeface="Bookman Old Style" pitchFamily="34" charset="-122"/>
                <a:cs typeface="Bookman Old Style" pitchFamily="34" charset="-120"/>
              </a:rPr>
              <a:t>Eat it.</a:t>
            </a:r>
            <a:endParaRPr lang="en-US" sz="4000" dirty="0"/>
          </a:p>
        </p:txBody>
      </p:sp>
      <p:sp>
        <p:nvSpPr>
          <p:cNvPr id="5" name="Text 3"/>
          <p:cNvSpPr txBox="1"/>
          <p:nvPr/>
        </p:nvSpPr>
        <p:spPr>
          <a:xfrm>
            <a:off x="566928" y="3611880"/>
            <a:ext cx="5120640" cy="1097280"/>
          </a:xfrm>
          <a:prstGeom prst="rect">
            <a:avLst/>
          </a:prstGeom>
          <a:noFill/>
          <a:ln/>
        </p:spPr>
        <p:txBody>
          <a:bodyPr wrap="square" lIns="0" tIns="0" rIns="0" bIns="0" rtlCol="0" anchor="ctr"/>
          <a:lstStyle/>
          <a:p>
            <a:pPr indent="0" marL="0">
              <a:lnSpc>
                <a:spcPts val="2300"/>
              </a:lnSpc>
              <a:buNone/>
            </a:pPr>
            <a:r>
              <a:rPr lang="en-US" sz="1550" dirty="0">
                <a:solidFill>
                  <a:srgbClr val="2E2B25"/>
                </a:solidFill>
                <a:latin typeface="Calibri" pitchFamily="34" charset="0"/>
                <a:ea typeface="Calibri" pitchFamily="34" charset="-122"/>
                <a:cs typeface="Calibri" pitchFamily="34" charset="-120"/>
              </a:rPr>
              <a:t>A food bite the size of a building brick, with studs that actually interlock. Kids stack a tower — then they eat the tower.</a:t>
            </a:r>
            <a:endParaRPr lang="en-US" sz="1550" dirty="0"/>
          </a:p>
        </p:txBody>
      </p:sp>
      <p:sp>
        <p:nvSpPr>
          <p:cNvPr id="6" name="Shape 4"/>
          <p:cNvSpPr/>
          <p:nvPr/>
        </p:nvSpPr>
        <p:spPr>
          <a:xfrm>
            <a:off x="566928" y="4800600"/>
            <a:ext cx="2423160" cy="438912"/>
          </a:xfrm>
          <a:prstGeom prst="roundRect">
            <a:avLst>
              <a:gd name="adj" fmla="val 104167"/>
            </a:avLst>
          </a:prstGeom>
          <a:solidFill>
            <a:srgbClr val="F9F4ED"/>
          </a:solidFill>
          <a:ln w="25400">
            <a:solidFill>
              <a:srgbClr val="402310"/>
            </a:solidFill>
            <a:prstDash val="solid"/>
          </a:ln>
        </p:spPr>
      </p:sp>
      <p:sp>
        <p:nvSpPr>
          <p:cNvPr id="7" name="Text 5"/>
          <p:cNvSpPr txBox="1"/>
          <p:nvPr/>
        </p:nvSpPr>
        <p:spPr>
          <a:xfrm>
            <a:off x="566928" y="4800600"/>
            <a:ext cx="2423160" cy="438912"/>
          </a:xfrm>
          <a:prstGeom prst="rect">
            <a:avLst/>
          </a:prstGeom>
          <a:noFill/>
          <a:ln/>
        </p:spPr>
        <p:txBody>
          <a:bodyPr wrap="square" lIns="0" tIns="0" rIns="0" bIns="0" rtlCol="0" anchor="ctr"/>
          <a:lstStyle/>
          <a:p>
            <a:pPr algn="ctr" indent="0" marL="0">
              <a:buNone/>
            </a:pPr>
            <a:r>
              <a:rPr lang="en-US" sz="1150" b="1" spc="140" kern="0" dirty="0">
                <a:solidFill>
                  <a:srgbClr val="402310"/>
                </a:solidFill>
                <a:latin typeface="Calibri" pitchFamily="34" charset="0"/>
                <a:ea typeface="Calibri" pitchFamily="34" charset="-122"/>
                <a:cs typeface="Calibri" pitchFamily="34" charset="-120"/>
              </a:rPr>
              <a:t>Nut-free</a:t>
            </a:r>
            <a:endParaRPr lang="en-US" sz="1150" dirty="0"/>
          </a:p>
        </p:txBody>
      </p:sp>
      <p:sp>
        <p:nvSpPr>
          <p:cNvPr id="8" name="Shape 6"/>
          <p:cNvSpPr/>
          <p:nvPr/>
        </p:nvSpPr>
        <p:spPr>
          <a:xfrm>
            <a:off x="3172968" y="4800600"/>
            <a:ext cx="2423160" cy="438912"/>
          </a:xfrm>
          <a:prstGeom prst="roundRect">
            <a:avLst>
              <a:gd name="adj" fmla="val 104167"/>
            </a:avLst>
          </a:prstGeom>
          <a:solidFill>
            <a:srgbClr val="F9F4ED"/>
          </a:solidFill>
          <a:ln w="25400">
            <a:solidFill>
              <a:srgbClr val="402310"/>
            </a:solidFill>
            <a:prstDash val="solid"/>
          </a:ln>
        </p:spPr>
      </p:sp>
      <p:sp>
        <p:nvSpPr>
          <p:cNvPr id="9" name="Text 7"/>
          <p:cNvSpPr txBox="1"/>
          <p:nvPr/>
        </p:nvSpPr>
        <p:spPr>
          <a:xfrm>
            <a:off x="3172968" y="4800600"/>
            <a:ext cx="2423160" cy="438912"/>
          </a:xfrm>
          <a:prstGeom prst="rect">
            <a:avLst/>
          </a:prstGeom>
          <a:noFill/>
          <a:ln/>
        </p:spPr>
        <p:txBody>
          <a:bodyPr wrap="square" lIns="0" tIns="0" rIns="0" bIns="0" rtlCol="0" anchor="ctr"/>
          <a:lstStyle/>
          <a:p>
            <a:pPr algn="ctr" indent="0" marL="0">
              <a:buNone/>
            </a:pPr>
            <a:r>
              <a:rPr lang="en-US" sz="1150" b="1" spc="140" kern="0" dirty="0">
                <a:solidFill>
                  <a:srgbClr val="402310"/>
                </a:solidFill>
                <a:latin typeface="Calibri" pitchFamily="34" charset="0"/>
                <a:ea typeface="Calibri" pitchFamily="34" charset="-122"/>
                <a:cs typeface="Calibri" pitchFamily="34" charset="-120"/>
              </a:rPr>
              <a:t>No gelatine</a:t>
            </a:r>
            <a:endParaRPr lang="en-US" sz="1150" dirty="0"/>
          </a:p>
        </p:txBody>
      </p:sp>
      <p:sp>
        <p:nvSpPr>
          <p:cNvPr id="10" name="Shape 8"/>
          <p:cNvSpPr/>
          <p:nvPr/>
        </p:nvSpPr>
        <p:spPr>
          <a:xfrm>
            <a:off x="566928" y="5367528"/>
            <a:ext cx="2423160" cy="438912"/>
          </a:xfrm>
          <a:prstGeom prst="roundRect">
            <a:avLst>
              <a:gd name="adj" fmla="val 104167"/>
            </a:avLst>
          </a:prstGeom>
          <a:solidFill>
            <a:srgbClr val="F9F4ED"/>
          </a:solidFill>
          <a:ln w="25400">
            <a:solidFill>
              <a:srgbClr val="402310"/>
            </a:solidFill>
            <a:prstDash val="solid"/>
          </a:ln>
        </p:spPr>
      </p:sp>
      <p:sp>
        <p:nvSpPr>
          <p:cNvPr id="11" name="Text 9"/>
          <p:cNvSpPr txBox="1"/>
          <p:nvPr/>
        </p:nvSpPr>
        <p:spPr>
          <a:xfrm>
            <a:off x="566928" y="5367528"/>
            <a:ext cx="2423160" cy="438912"/>
          </a:xfrm>
          <a:prstGeom prst="rect">
            <a:avLst/>
          </a:prstGeom>
          <a:noFill/>
          <a:ln/>
        </p:spPr>
        <p:txBody>
          <a:bodyPr wrap="square" lIns="0" tIns="0" rIns="0" bIns="0" rtlCol="0" anchor="ctr"/>
          <a:lstStyle/>
          <a:p>
            <a:pPr algn="ctr" indent="0" marL="0">
              <a:buNone/>
            </a:pPr>
            <a:r>
              <a:rPr lang="en-US" sz="1150" b="1" spc="140" kern="0" dirty="0">
                <a:solidFill>
                  <a:srgbClr val="402310"/>
                </a:solidFill>
                <a:latin typeface="Calibri" pitchFamily="34" charset="0"/>
                <a:ea typeface="Calibri" pitchFamily="34" charset="-122"/>
                <a:cs typeface="Calibri" pitchFamily="34" charset="-120"/>
              </a:rPr>
              <a:t>No junk bricks</a:t>
            </a:r>
            <a:endParaRPr lang="en-US" sz="1150" dirty="0"/>
          </a:p>
        </p:txBody>
      </p:sp>
      <p:sp>
        <p:nvSpPr>
          <p:cNvPr id="12" name="Shape 10"/>
          <p:cNvSpPr/>
          <p:nvPr/>
        </p:nvSpPr>
        <p:spPr>
          <a:xfrm>
            <a:off x="3172968" y="5367528"/>
            <a:ext cx="2423160" cy="438912"/>
          </a:xfrm>
          <a:prstGeom prst="roundRect">
            <a:avLst>
              <a:gd name="adj" fmla="val 104167"/>
            </a:avLst>
          </a:prstGeom>
          <a:solidFill>
            <a:srgbClr val="F9F4ED"/>
          </a:solidFill>
          <a:ln w="25400">
            <a:solidFill>
              <a:srgbClr val="402310"/>
            </a:solidFill>
            <a:prstDash val="solid"/>
          </a:ln>
        </p:spPr>
      </p:sp>
      <p:sp>
        <p:nvSpPr>
          <p:cNvPr id="13" name="Text 11"/>
          <p:cNvSpPr txBox="1"/>
          <p:nvPr/>
        </p:nvSpPr>
        <p:spPr>
          <a:xfrm>
            <a:off x="3172968" y="5367528"/>
            <a:ext cx="2423160" cy="438912"/>
          </a:xfrm>
          <a:prstGeom prst="rect">
            <a:avLst/>
          </a:prstGeom>
          <a:noFill/>
          <a:ln/>
        </p:spPr>
        <p:txBody>
          <a:bodyPr wrap="square" lIns="0" tIns="0" rIns="0" bIns="0" rtlCol="0" anchor="ctr"/>
          <a:lstStyle/>
          <a:p>
            <a:pPr algn="ctr" indent="0" marL="0">
              <a:buNone/>
            </a:pPr>
            <a:r>
              <a:rPr lang="en-US" sz="1150" b="1" spc="140" kern="0" dirty="0">
                <a:solidFill>
                  <a:srgbClr val="402310"/>
                </a:solidFill>
                <a:latin typeface="Calibri" pitchFamily="34" charset="0"/>
                <a:ea typeface="Calibri" pitchFamily="34" charset="-122"/>
                <a:cs typeface="Calibri" pitchFamily="34" charset="-120"/>
              </a:rPr>
              <a:t>Made to play with</a:t>
            </a:r>
            <a:endParaRPr lang="en-US" sz="1150" dirty="0"/>
          </a:p>
        </p:txBody>
      </p:sp>
      <p:pic>
        <p:nvPicPr>
          <p:cNvPr id="14" name="Image 0" descr="img-stack.png">    </p:cNvPr>
          <p:cNvPicPr>
            <a:picLocks noChangeAspect="1"/>
          </p:cNvPicPr>
          <p:nvPr/>
        </p:nvPicPr>
        <p:blipFill>
          <a:blip r:embed="rId1"/>
          <a:stretch>
            <a:fillRect/>
          </a:stretch>
        </p:blipFill>
        <p:spPr>
          <a:xfrm>
            <a:off x="6903720" y="1051560"/>
            <a:ext cx="4709160" cy="36118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02310"/>
        </a:solidFill>
      </p:bgPr>
    </p:bg>
    <p:spTree>
      <p:nvGrpSpPr>
        <p:cNvPr id="1" name=""/>
        <p:cNvGrpSpPr/>
        <p:nvPr/>
      </p:nvGrpSpPr>
      <p:grpSpPr>
        <a:xfrm>
          <a:off x="0" y="0"/>
          <a:ext cx="0" cy="0"/>
          <a:chOff x="0" y="0"/>
          <a:chExt cx="0" cy="0"/>
        </a:xfrm>
      </p:grpSpPr>
      <p:sp>
        <p:nvSpPr>
          <p:cNvPr id="2" name="Shape 0"/>
          <p:cNvSpPr/>
          <p:nvPr/>
        </p:nvSpPr>
        <p:spPr>
          <a:xfrm>
            <a:off x="566928" y="566928"/>
            <a:ext cx="1691640" cy="384048"/>
          </a:xfrm>
          <a:prstGeom prst="roundRect">
            <a:avLst>
              <a:gd name="adj" fmla="val 119048"/>
            </a:avLst>
          </a:prstGeom>
          <a:solidFill>
            <a:srgbClr val="B2622D"/>
          </a:solidFill>
          <a:ln w="25400">
            <a:solidFill>
              <a:srgbClr val="B2622D"/>
            </a:solidFill>
            <a:prstDash val="solid"/>
          </a:ln>
        </p:spPr>
      </p:sp>
      <p:sp>
        <p:nvSpPr>
          <p:cNvPr id="3" name="Text 1"/>
          <p:cNvSpPr txBox="1"/>
          <p:nvPr/>
        </p:nvSpPr>
        <p:spPr>
          <a:xfrm>
            <a:off x="566928" y="566928"/>
            <a:ext cx="1691640" cy="384048"/>
          </a:xfrm>
          <a:prstGeom prst="rect">
            <a:avLst/>
          </a:prstGeom>
          <a:noFill/>
          <a:ln/>
        </p:spPr>
        <p:txBody>
          <a:bodyPr wrap="square" lIns="0" tIns="0" rIns="0" bIns="0" rtlCol="0" anchor="ctr"/>
          <a:lstStyle/>
          <a:p>
            <a:pPr algn="ctr" indent="0" marL="0">
              <a:buNone/>
            </a:pPr>
            <a:r>
              <a:rPr lang="en-US" sz="1100" b="1" spc="140" kern="0" dirty="0">
                <a:solidFill>
                  <a:srgbClr val="F9F4ED"/>
                </a:solidFill>
                <a:latin typeface="Calibri" pitchFamily="34" charset="0"/>
                <a:ea typeface="Calibri" pitchFamily="34" charset="-122"/>
                <a:cs typeface="Calibri" pitchFamily="34" charset="-120"/>
              </a:rPr>
              <a:t>THE INSIGHT</a:t>
            </a:r>
            <a:endParaRPr lang="en-US" sz="1100" dirty="0"/>
          </a:p>
        </p:txBody>
      </p:sp>
      <p:sp>
        <p:nvSpPr>
          <p:cNvPr id="4" name="Text 2"/>
          <p:cNvSpPr txBox="1"/>
          <p:nvPr/>
        </p:nvSpPr>
        <p:spPr>
          <a:xfrm>
            <a:off x="566928" y="1325880"/>
            <a:ext cx="6766560" cy="1920240"/>
          </a:xfrm>
          <a:prstGeom prst="rect">
            <a:avLst/>
          </a:prstGeom>
          <a:noFill/>
          <a:ln/>
        </p:spPr>
        <p:txBody>
          <a:bodyPr wrap="square" lIns="0" tIns="0" rIns="0" bIns="0" rtlCol="0" anchor="ctr"/>
          <a:lstStyle/>
          <a:p>
            <a:pPr indent="0" marL="0">
              <a:lnSpc>
                <a:spcPts val="5000"/>
              </a:lnSpc>
              <a:buNone/>
            </a:pPr>
            <a:r>
              <a:rPr lang="en-US" sz="4200" b="1" dirty="0">
                <a:solidFill>
                  <a:srgbClr val="F9F4ED"/>
                </a:solidFill>
                <a:latin typeface="Bookman Old Style" pitchFamily="34" charset="0"/>
                <a:ea typeface="Bookman Old Style" pitchFamily="34" charset="-122"/>
                <a:cs typeface="Bookman Old Style" pitchFamily="34" charset="-120"/>
              </a:rPr>
              <a:t>“Don’t play</a:t>
            </a:r>
            <a:endParaRPr lang="en-US" sz="4200" dirty="0"/>
          </a:p>
          <a:p>
            <a:pPr indent="0" marL="0">
              <a:lnSpc>
                <a:spcPts val="5000"/>
              </a:lnSpc>
              <a:buNone/>
            </a:pPr>
            <a:r>
              <a:rPr lang="en-US" sz="4200" b="1" dirty="0">
                <a:solidFill>
                  <a:srgbClr val="F9F4ED"/>
                </a:solidFill>
                <a:latin typeface="Bookman Old Style" pitchFamily="34" charset="0"/>
                <a:ea typeface="Bookman Old Style" pitchFamily="34" charset="-122"/>
                <a:cs typeface="Bookman Old Style" pitchFamily="34" charset="-120"/>
              </a:rPr>
              <a:t>with your food.”</a:t>
            </a:r>
            <a:endParaRPr lang="en-US" sz="4200" dirty="0"/>
          </a:p>
        </p:txBody>
      </p:sp>
      <p:sp>
        <p:nvSpPr>
          <p:cNvPr id="5" name="Text 3"/>
          <p:cNvSpPr txBox="1"/>
          <p:nvPr/>
        </p:nvSpPr>
        <p:spPr>
          <a:xfrm>
            <a:off x="566928" y="3429000"/>
            <a:ext cx="6400800" cy="640080"/>
          </a:xfrm>
          <a:prstGeom prst="rect">
            <a:avLst/>
          </a:prstGeom>
          <a:noFill/>
          <a:ln/>
        </p:spPr>
        <p:txBody>
          <a:bodyPr wrap="square" lIns="0" tIns="0" rIns="0" bIns="0" rtlCol="0" anchor="ctr"/>
          <a:lstStyle/>
          <a:p>
            <a:pPr indent="0" marL="0">
              <a:lnSpc>
                <a:spcPts val="2400"/>
              </a:lnSpc>
              <a:buNone/>
            </a:pPr>
            <a:r>
              <a:rPr lang="en-US" sz="1700" dirty="0">
                <a:solidFill>
                  <a:srgbClr val="FFE1D0"/>
                </a:solidFill>
                <a:latin typeface="Calibri" pitchFamily="34" charset="0"/>
                <a:ea typeface="Calibri" pitchFamily="34" charset="-122"/>
                <a:cs typeface="Calibri" pitchFamily="34" charset="-120"/>
              </a:rPr>
              <a:t>That rule exists because playing with food usually means wasting it.</a:t>
            </a:r>
            <a:endParaRPr lang="en-US" sz="1700" dirty="0"/>
          </a:p>
        </p:txBody>
      </p:sp>
      <p:sp>
        <p:nvSpPr>
          <p:cNvPr id="6" name="Shape 4"/>
          <p:cNvSpPr/>
          <p:nvPr/>
        </p:nvSpPr>
        <p:spPr>
          <a:xfrm>
            <a:off x="566928" y="4206240"/>
            <a:ext cx="6766560" cy="1783080"/>
          </a:xfrm>
          <a:prstGeom prst="roundRect">
            <a:avLst>
              <a:gd name="adj" fmla="val 9231"/>
            </a:avLst>
          </a:prstGeom>
          <a:solidFill>
            <a:srgbClr val="728157"/>
          </a:solidFill>
          <a:ln w="31750">
            <a:solidFill>
              <a:srgbClr val="728157"/>
            </a:solidFill>
            <a:prstDash val="solid"/>
          </a:ln>
          <a:effectLst>
            <a:outerShdw sx="100000" sy="100000" kx="0" ky="0" algn="bl" rotWithShape="0" blurRad="101600" dist="63500" dir="2700000">
              <a:srgbClr val="402310">
                <a:alpha val="100000"/>
              </a:srgbClr>
            </a:outerShdw>
          </a:effectLst>
        </p:spPr>
      </p:sp>
      <p:sp>
        <p:nvSpPr>
          <p:cNvPr id="7" name="Text 5"/>
          <p:cNvSpPr txBox="1"/>
          <p:nvPr/>
        </p:nvSpPr>
        <p:spPr>
          <a:xfrm>
            <a:off x="978408" y="4498848"/>
            <a:ext cx="5943600" cy="548640"/>
          </a:xfrm>
          <a:prstGeom prst="rect">
            <a:avLst/>
          </a:prstGeom>
          <a:noFill/>
          <a:ln/>
        </p:spPr>
        <p:txBody>
          <a:bodyPr wrap="square" lIns="0" tIns="0" rIns="0" bIns="0" rtlCol="0" anchor="ctr"/>
          <a:lstStyle/>
          <a:p>
            <a:pPr indent="0" marL="0">
              <a:buNone/>
            </a:pPr>
            <a:r>
              <a:rPr lang="en-US" sz="2200" b="1" dirty="0">
                <a:solidFill>
                  <a:srgbClr val="F9F4ED"/>
                </a:solidFill>
                <a:latin typeface="Bookman Old Style" pitchFamily="34" charset="0"/>
                <a:ea typeface="Bookman Old Style" pitchFamily="34" charset="-122"/>
                <a:cs typeface="Bookman Old Style" pitchFamily="34" charset="-120"/>
              </a:rPr>
              <a:t>Here, playing with it is how it gets eaten.</a:t>
            </a:r>
            <a:endParaRPr lang="en-US" sz="2200" dirty="0"/>
          </a:p>
        </p:txBody>
      </p:sp>
      <p:sp>
        <p:nvSpPr>
          <p:cNvPr id="8" name="Text 6"/>
          <p:cNvSpPr txBox="1"/>
          <p:nvPr/>
        </p:nvSpPr>
        <p:spPr>
          <a:xfrm>
            <a:off x="978408" y="5166360"/>
            <a:ext cx="5943600" cy="457200"/>
          </a:xfrm>
          <a:prstGeom prst="rect">
            <a:avLst/>
          </a:prstGeom>
          <a:noFill/>
          <a:ln/>
        </p:spPr>
        <p:txBody>
          <a:bodyPr wrap="square" lIns="0" tIns="0" rIns="0" bIns="0" rtlCol="0" anchor="ctr"/>
          <a:lstStyle/>
          <a:p>
            <a:pPr indent="0" marL="0">
              <a:buNone/>
            </a:pPr>
            <a:r>
              <a:rPr lang="en-US" sz="1700" i="1" dirty="0">
                <a:solidFill>
                  <a:srgbClr val="F0FAE1"/>
                </a:solidFill>
                <a:latin typeface="Calibri" pitchFamily="34" charset="0"/>
                <a:ea typeface="Calibri" pitchFamily="34" charset="-122"/>
                <a:cs typeface="Calibri" pitchFamily="34" charset="-120"/>
              </a:rPr>
              <a:t>Same instinct, opposite outcome.</a:t>
            </a:r>
            <a:endParaRPr lang="en-US" sz="1700" dirty="0"/>
          </a:p>
        </p:txBody>
      </p:sp>
      <p:pic>
        <p:nvPicPr>
          <p:cNvPr id="9" name="Image 0" descr="img-tower.png">    </p:cNvPr>
          <p:cNvPicPr>
            <a:picLocks noChangeAspect="1"/>
          </p:cNvPicPr>
          <p:nvPr/>
        </p:nvPicPr>
        <p:blipFill>
          <a:blip r:embed="rId1"/>
          <a:stretch>
            <a:fillRect/>
          </a:stretch>
        </p:blipFill>
        <p:spPr>
          <a:xfrm>
            <a:off x="7543800" y="1508760"/>
            <a:ext cx="4069080" cy="2834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AD8"/>
        </a:solidFill>
      </p:bgPr>
    </p:bg>
    <p:spTree>
      <p:nvGrpSpPr>
        <p:cNvPr id="1" name=""/>
        <p:cNvGrpSpPr/>
        <p:nvPr/>
      </p:nvGrpSpPr>
      <p:grpSpPr>
        <a:xfrm>
          <a:off x="0" y="0"/>
          <a:ext cx="0" cy="0"/>
          <a:chOff x="0" y="0"/>
          <a:chExt cx="0" cy="0"/>
        </a:xfrm>
      </p:grpSpPr>
      <p:sp>
        <p:nvSpPr>
          <p:cNvPr id="2" name="Shape 0"/>
          <p:cNvSpPr/>
          <p:nvPr/>
        </p:nvSpPr>
        <p:spPr>
          <a:xfrm>
            <a:off x="566928" y="566928"/>
            <a:ext cx="2103120" cy="384048"/>
          </a:xfrm>
          <a:prstGeom prst="roundRect">
            <a:avLst>
              <a:gd name="adj" fmla="val 119048"/>
            </a:avLst>
          </a:prstGeom>
          <a:solidFill>
            <a:srgbClr val="402310"/>
          </a:solidFill>
          <a:ln w="25400">
            <a:solidFill>
              <a:srgbClr val="402310"/>
            </a:solidFill>
            <a:prstDash val="solid"/>
          </a:ln>
        </p:spPr>
      </p:sp>
      <p:sp>
        <p:nvSpPr>
          <p:cNvPr id="3" name="Text 1"/>
          <p:cNvSpPr txBox="1"/>
          <p:nvPr/>
        </p:nvSpPr>
        <p:spPr>
          <a:xfrm>
            <a:off x="566928" y="566928"/>
            <a:ext cx="2103120" cy="384048"/>
          </a:xfrm>
          <a:prstGeom prst="rect">
            <a:avLst/>
          </a:prstGeom>
          <a:noFill/>
          <a:ln/>
        </p:spPr>
        <p:txBody>
          <a:bodyPr wrap="square" lIns="0" tIns="0" rIns="0" bIns="0" rtlCol="0" anchor="ctr"/>
          <a:lstStyle/>
          <a:p>
            <a:pPr algn="ctr" indent="0" marL="0">
              <a:buNone/>
            </a:pPr>
            <a:r>
              <a:rPr lang="en-US" sz="1100" b="1" spc="140" kern="0" dirty="0">
                <a:solidFill>
                  <a:srgbClr val="F9F4ED"/>
                </a:solidFill>
                <a:latin typeface="Calibri" pitchFamily="34" charset="0"/>
                <a:ea typeface="Calibri" pitchFamily="34" charset="-122"/>
                <a:cs typeface="Calibri" pitchFamily="34" charset="-120"/>
              </a:rPr>
              <a:t>THE SNACK AISLE</a:t>
            </a:r>
            <a:endParaRPr lang="en-US" sz="1100" dirty="0"/>
          </a:p>
        </p:txBody>
      </p:sp>
      <p:sp>
        <p:nvSpPr>
          <p:cNvPr id="4" name="Text 2"/>
          <p:cNvSpPr txBox="1"/>
          <p:nvPr/>
        </p:nvSpPr>
        <p:spPr>
          <a:xfrm>
            <a:off x="566928" y="1097280"/>
            <a:ext cx="7315200" cy="640080"/>
          </a:xfrm>
          <a:prstGeom prst="rect">
            <a:avLst/>
          </a:prstGeom>
          <a:noFill/>
          <a:ln/>
        </p:spPr>
        <p:txBody>
          <a:bodyPr wrap="square" lIns="0" tIns="0" rIns="0" bIns="0" rtlCol="0" anchor="ctr"/>
          <a:lstStyle/>
          <a:p>
            <a:pPr indent="0" marL="0">
              <a:buNone/>
            </a:pPr>
            <a:r>
              <a:rPr lang="en-US" sz="3300" b="1" dirty="0">
                <a:solidFill>
                  <a:srgbClr val="402310"/>
                </a:solidFill>
                <a:latin typeface="Bookman Old Style" pitchFamily="34" charset="0"/>
                <a:ea typeface="Bookman Old Style" pitchFamily="34" charset="-122"/>
                <a:cs typeface="Bookman Old Style" pitchFamily="34" charset="-120"/>
              </a:rPr>
              <a:t>Honestly compared.</a:t>
            </a:r>
            <a:endParaRPr lang="en-US" sz="3300" dirty="0"/>
          </a:p>
        </p:txBody>
      </p:sp>
      <p:sp>
        <p:nvSpPr>
          <p:cNvPr id="5" name="Shape 3"/>
          <p:cNvSpPr/>
          <p:nvPr/>
        </p:nvSpPr>
        <p:spPr>
          <a:xfrm>
            <a:off x="566928" y="2011680"/>
            <a:ext cx="2606040" cy="3931920"/>
          </a:xfrm>
          <a:prstGeom prst="roundRect">
            <a:avLst>
              <a:gd name="adj" fmla="val 6316"/>
            </a:avLst>
          </a:prstGeom>
          <a:solidFill>
            <a:srgbClr val="FFF2EB"/>
          </a:solidFill>
          <a:ln w="31750">
            <a:solidFill>
              <a:srgbClr val="DCD3C4"/>
            </a:solidFill>
            <a:prstDash val="solid"/>
          </a:ln>
        </p:spPr>
      </p:sp>
      <p:sp>
        <p:nvSpPr>
          <p:cNvPr id="6" name="Shape 4"/>
          <p:cNvSpPr/>
          <p:nvPr/>
        </p:nvSpPr>
        <p:spPr>
          <a:xfrm>
            <a:off x="841248" y="2286000"/>
            <a:ext cx="493776" cy="493776"/>
          </a:xfrm>
          <a:prstGeom prst="ellipse">
            <a:avLst/>
          </a:prstGeom>
          <a:solidFill>
            <a:srgbClr val="E8DCCB"/>
          </a:solidFill>
          <a:ln w="19050">
            <a:solidFill>
              <a:srgbClr val="DCD3C4"/>
            </a:solidFill>
            <a:prstDash val="solid"/>
          </a:ln>
        </p:spPr>
      </p:sp>
      <p:sp>
        <p:nvSpPr>
          <p:cNvPr id="7" name="Text 5"/>
          <p:cNvSpPr txBox="1"/>
          <p:nvPr/>
        </p:nvSpPr>
        <p:spPr>
          <a:xfrm>
            <a:off x="841248" y="2286000"/>
            <a:ext cx="493776" cy="493776"/>
          </a:xfrm>
          <a:prstGeom prst="rect">
            <a:avLst/>
          </a:prstGeom>
          <a:noFill/>
          <a:ln/>
        </p:spPr>
        <p:txBody>
          <a:bodyPr wrap="square" lIns="0" tIns="0" rIns="0" bIns="0" rtlCol="0" anchor="ctr"/>
          <a:lstStyle/>
          <a:p>
            <a:pPr algn="ctr" indent="0" marL="0">
              <a:buNone/>
            </a:pPr>
            <a:r>
              <a:rPr lang="en-US" sz="1600" b="1" dirty="0">
                <a:solidFill>
                  <a:srgbClr val="8C6A4A"/>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841248" y="2999232"/>
            <a:ext cx="2057400" cy="457200"/>
          </a:xfrm>
          <a:prstGeom prst="rect">
            <a:avLst/>
          </a:prstGeom>
          <a:noFill/>
          <a:ln/>
        </p:spPr>
        <p:txBody>
          <a:bodyPr wrap="square" lIns="0" tIns="0" rIns="0" bIns="0" rtlCol="0" anchor="ctr"/>
          <a:lstStyle/>
          <a:p>
            <a:pPr indent="0" marL="0">
              <a:buNone/>
            </a:pPr>
            <a:r>
              <a:rPr lang="en-US" sz="1100" b="1" spc="120" kern="0" dirty="0">
                <a:solidFill>
                  <a:srgbClr val="B2622D"/>
                </a:solidFill>
                <a:latin typeface="Calibri" pitchFamily="34" charset="0"/>
                <a:ea typeface="Calibri" pitchFamily="34" charset="-122"/>
                <a:cs typeface="Calibri" pitchFamily="34" charset="-120"/>
              </a:rPr>
              <a:t>KIDFRESH</a:t>
            </a:r>
            <a:endParaRPr lang="en-US" sz="1100" dirty="0"/>
          </a:p>
        </p:txBody>
      </p:sp>
      <p:sp>
        <p:nvSpPr>
          <p:cNvPr id="9" name="Text 7"/>
          <p:cNvSpPr txBox="1"/>
          <p:nvPr/>
        </p:nvSpPr>
        <p:spPr>
          <a:xfrm>
            <a:off x="841248" y="3566160"/>
            <a:ext cx="2057400" cy="2011680"/>
          </a:xfrm>
          <a:prstGeom prst="rect">
            <a:avLst/>
          </a:prstGeom>
          <a:noFill/>
          <a:ln/>
        </p:spPr>
        <p:txBody>
          <a:bodyPr wrap="square" lIns="0" tIns="0" rIns="0" bIns="0" rtlCol="0" anchor="ctr"/>
          <a:lstStyle/>
          <a:p>
            <a:pPr indent="0" marL="0">
              <a:lnSpc>
                <a:spcPts val="2000"/>
              </a:lnSpc>
              <a:buNone/>
            </a:pPr>
            <a:r>
              <a:rPr lang="en-US" sz="1350" dirty="0">
                <a:solidFill>
                  <a:srgbClr val="2E2B25"/>
                </a:solidFill>
                <a:latin typeface="Calibri" pitchFamily="34" charset="0"/>
                <a:ea typeface="Calibri" pitchFamily="34" charset="-122"/>
                <a:cs typeface="Calibri" pitchFamily="34" charset="-120"/>
              </a:rPr>
              <a:t>Frozen premade meals in supermarkets. Long ingredient lists, and not sold in Australia.</a:t>
            </a:r>
            <a:endParaRPr lang="en-US" sz="1350" dirty="0"/>
          </a:p>
        </p:txBody>
      </p:sp>
      <p:sp>
        <p:nvSpPr>
          <p:cNvPr id="10" name="Shape 8"/>
          <p:cNvSpPr/>
          <p:nvPr/>
        </p:nvSpPr>
        <p:spPr>
          <a:xfrm>
            <a:off x="3355848" y="2011680"/>
            <a:ext cx="2606040" cy="3931920"/>
          </a:xfrm>
          <a:prstGeom prst="roundRect">
            <a:avLst>
              <a:gd name="adj" fmla="val 6316"/>
            </a:avLst>
          </a:prstGeom>
          <a:solidFill>
            <a:srgbClr val="FFF2EB"/>
          </a:solidFill>
          <a:ln w="31750">
            <a:solidFill>
              <a:srgbClr val="DCD3C4"/>
            </a:solidFill>
            <a:prstDash val="solid"/>
          </a:ln>
        </p:spPr>
      </p:sp>
      <p:sp>
        <p:nvSpPr>
          <p:cNvPr id="11" name="Shape 9"/>
          <p:cNvSpPr/>
          <p:nvPr/>
        </p:nvSpPr>
        <p:spPr>
          <a:xfrm>
            <a:off x="3630168" y="2286000"/>
            <a:ext cx="493776" cy="493776"/>
          </a:xfrm>
          <a:prstGeom prst="ellipse">
            <a:avLst/>
          </a:prstGeom>
          <a:solidFill>
            <a:srgbClr val="E8DCCB"/>
          </a:solidFill>
          <a:ln w="19050">
            <a:solidFill>
              <a:srgbClr val="DCD3C4"/>
            </a:solidFill>
            <a:prstDash val="solid"/>
          </a:ln>
        </p:spPr>
      </p:sp>
      <p:sp>
        <p:nvSpPr>
          <p:cNvPr id="12" name="Text 10"/>
          <p:cNvSpPr txBox="1"/>
          <p:nvPr/>
        </p:nvSpPr>
        <p:spPr>
          <a:xfrm>
            <a:off x="3630168" y="2286000"/>
            <a:ext cx="493776" cy="493776"/>
          </a:xfrm>
          <a:prstGeom prst="rect">
            <a:avLst/>
          </a:prstGeom>
          <a:noFill/>
          <a:ln/>
        </p:spPr>
        <p:txBody>
          <a:bodyPr wrap="square" lIns="0" tIns="0" rIns="0" bIns="0" rtlCol="0" anchor="ctr"/>
          <a:lstStyle/>
          <a:p>
            <a:pPr algn="ctr" indent="0" marL="0">
              <a:buNone/>
            </a:pPr>
            <a:r>
              <a:rPr lang="en-US" sz="1600" b="1" dirty="0">
                <a:solidFill>
                  <a:srgbClr val="8C6A4A"/>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3630168" y="2999232"/>
            <a:ext cx="2057400" cy="457200"/>
          </a:xfrm>
          <a:prstGeom prst="rect">
            <a:avLst/>
          </a:prstGeom>
          <a:noFill/>
          <a:ln/>
        </p:spPr>
        <p:txBody>
          <a:bodyPr wrap="square" lIns="0" tIns="0" rIns="0" bIns="0" rtlCol="0" anchor="ctr"/>
          <a:lstStyle/>
          <a:p>
            <a:pPr indent="0" marL="0">
              <a:buNone/>
            </a:pPr>
            <a:r>
              <a:rPr lang="en-US" sz="1100" b="1" spc="120" kern="0" dirty="0">
                <a:solidFill>
                  <a:srgbClr val="B2622D"/>
                </a:solidFill>
                <a:latin typeface="Calibri" pitchFamily="34" charset="0"/>
                <a:ea typeface="Calibri" pitchFamily="34" charset="-122"/>
                <a:cs typeface="Calibri" pitchFamily="34" charset="-120"/>
              </a:rPr>
              <a:t>LITTLE SPOON</a:t>
            </a:r>
            <a:endParaRPr lang="en-US" sz="1100" dirty="0"/>
          </a:p>
        </p:txBody>
      </p:sp>
      <p:sp>
        <p:nvSpPr>
          <p:cNvPr id="14" name="Text 12"/>
          <p:cNvSpPr txBox="1"/>
          <p:nvPr/>
        </p:nvSpPr>
        <p:spPr>
          <a:xfrm>
            <a:off x="3630168" y="3566160"/>
            <a:ext cx="2057400" cy="2011680"/>
          </a:xfrm>
          <a:prstGeom prst="rect">
            <a:avLst/>
          </a:prstGeom>
          <a:noFill/>
          <a:ln/>
        </p:spPr>
        <p:txBody>
          <a:bodyPr wrap="square" lIns="0" tIns="0" rIns="0" bIns="0" rtlCol="0" anchor="ctr"/>
          <a:lstStyle/>
          <a:p>
            <a:pPr indent="0" marL="0">
              <a:lnSpc>
                <a:spcPts val="2000"/>
              </a:lnSpc>
              <a:buNone/>
            </a:pPr>
            <a:r>
              <a:rPr lang="en-US" sz="1350" dirty="0">
                <a:solidFill>
                  <a:srgbClr val="2E2B25"/>
                </a:solidFill>
                <a:latin typeface="Calibri" pitchFamily="34" charset="0"/>
                <a:ea typeface="Calibri" pitchFamily="34" charset="-122"/>
                <a:cs typeface="Calibri" pitchFamily="34" charset="-120"/>
              </a:rPr>
              <a:t>Fresh organic meals, but subscription only and priced for higher income parents.</a:t>
            </a:r>
            <a:endParaRPr lang="en-US" sz="1350" dirty="0"/>
          </a:p>
        </p:txBody>
      </p:sp>
      <p:sp>
        <p:nvSpPr>
          <p:cNvPr id="15" name="Shape 13"/>
          <p:cNvSpPr/>
          <p:nvPr/>
        </p:nvSpPr>
        <p:spPr>
          <a:xfrm>
            <a:off x="6144768" y="2011680"/>
            <a:ext cx="2606040" cy="3931920"/>
          </a:xfrm>
          <a:prstGeom prst="roundRect">
            <a:avLst>
              <a:gd name="adj" fmla="val 6316"/>
            </a:avLst>
          </a:prstGeom>
          <a:solidFill>
            <a:srgbClr val="FFF2EB"/>
          </a:solidFill>
          <a:ln w="31750">
            <a:solidFill>
              <a:srgbClr val="DCD3C4"/>
            </a:solidFill>
            <a:prstDash val="solid"/>
          </a:ln>
        </p:spPr>
      </p:sp>
      <p:sp>
        <p:nvSpPr>
          <p:cNvPr id="16" name="Shape 14"/>
          <p:cNvSpPr/>
          <p:nvPr/>
        </p:nvSpPr>
        <p:spPr>
          <a:xfrm>
            <a:off x="6419088" y="2286000"/>
            <a:ext cx="493776" cy="493776"/>
          </a:xfrm>
          <a:prstGeom prst="ellipse">
            <a:avLst/>
          </a:prstGeom>
          <a:solidFill>
            <a:srgbClr val="E8DCCB"/>
          </a:solidFill>
          <a:ln w="19050">
            <a:solidFill>
              <a:srgbClr val="DCD3C4"/>
            </a:solidFill>
            <a:prstDash val="solid"/>
          </a:ln>
        </p:spPr>
      </p:sp>
      <p:sp>
        <p:nvSpPr>
          <p:cNvPr id="17" name="Text 15"/>
          <p:cNvSpPr txBox="1"/>
          <p:nvPr/>
        </p:nvSpPr>
        <p:spPr>
          <a:xfrm>
            <a:off x="6419088" y="2286000"/>
            <a:ext cx="493776" cy="493776"/>
          </a:xfrm>
          <a:prstGeom prst="rect">
            <a:avLst/>
          </a:prstGeom>
          <a:noFill/>
          <a:ln/>
        </p:spPr>
        <p:txBody>
          <a:bodyPr wrap="square" lIns="0" tIns="0" rIns="0" bIns="0" rtlCol="0" anchor="ctr"/>
          <a:lstStyle/>
          <a:p>
            <a:pPr algn="ctr" indent="0" marL="0">
              <a:buNone/>
            </a:pPr>
            <a:r>
              <a:rPr lang="en-US" sz="1600" b="1" dirty="0">
                <a:solidFill>
                  <a:srgbClr val="8C6A4A"/>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6419088" y="2999232"/>
            <a:ext cx="2057400" cy="457200"/>
          </a:xfrm>
          <a:prstGeom prst="rect">
            <a:avLst/>
          </a:prstGeom>
          <a:noFill/>
          <a:ln/>
        </p:spPr>
        <p:txBody>
          <a:bodyPr wrap="square" lIns="0" tIns="0" rIns="0" bIns="0" rtlCol="0" anchor="ctr"/>
          <a:lstStyle/>
          <a:p>
            <a:pPr indent="0" marL="0">
              <a:buNone/>
            </a:pPr>
            <a:r>
              <a:rPr lang="en-US" sz="1100" b="1" spc="120" kern="0" dirty="0">
                <a:solidFill>
                  <a:srgbClr val="B2622D"/>
                </a:solidFill>
                <a:latin typeface="Calibri" pitchFamily="34" charset="0"/>
                <a:ea typeface="Calibri" pitchFamily="34" charset="-122"/>
                <a:cs typeface="Calibri" pitchFamily="34" charset="-120"/>
              </a:rPr>
              <a:t>GUMMY BUILDING BLOCKS</a:t>
            </a:r>
            <a:endParaRPr lang="en-US" sz="1100" dirty="0"/>
          </a:p>
        </p:txBody>
      </p:sp>
      <p:sp>
        <p:nvSpPr>
          <p:cNvPr id="19" name="Text 17"/>
          <p:cNvSpPr txBox="1"/>
          <p:nvPr/>
        </p:nvSpPr>
        <p:spPr>
          <a:xfrm>
            <a:off x="6419088" y="3566160"/>
            <a:ext cx="2057400" cy="2011680"/>
          </a:xfrm>
          <a:prstGeom prst="rect">
            <a:avLst/>
          </a:prstGeom>
          <a:noFill/>
          <a:ln/>
        </p:spPr>
        <p:txBody>
          <a:bodyPr wrap="square" lIns="0" tIns="0" rIns="0" bIns="0" rtlCol="0" anchor="ctr"/>
          <a:lstStyle/>
          <a:p>
            <a:pPr indent="0" marL="0">
              <a:lnSpc>
                <a:spcPts val="2000"/>
              </a:lnSpc>
              <a:buNone/>
            </a:pPr>
            <a:r>
              <a:rPr lang="en-US" sz="1350" dirty="0">
                <a:solidFill>
                  <a:srgbClr val="2E2B25"/>
                </a:solidFill>
                <a:latin typeface="Calibri" pitchFamily="34" charset="0"/>
                <a:ea typeface="Calibri" pitchFamily="34" charset="-122"/>
                <a:cs typeface="Calibri" pitchFamily="34" charset="-120"/>
              </a:rPr>
              <a:t>They stack, but they are sugar and sold as a party novelty.</a:t>
            </a:r>
            <a:endParaRPr lang="en-US" sz="1350" dirty="0"/>
          </a:p>
        </p:txBody>
      </p:sp>
      <p:sp>
        <p:nvSpPr>
          <p:cNvPr id="20" name="Shape 18"/>
          <p:cNvSpPr/>
          <p:nvPr/>
        </p:nvSpPr>
        <p:spPr>
          <a:xfrm>
            <a:off x="8933688" y="2011680"/>
            <a:ext cx="2606040" cy="3931920"/>
          </a:xfrm>
          <a:prstGeom prst="roundRect">
            <a:avLst>
              <a:gd name="adj" fmla="val 6316"/>
            </a:avLst>
          </a:prstGeom>
          <a:solidFill>
            <a:srgbClr val="728157"/>
          </a:solidFill>
          <a:ln w="31750">
            <a:solidFill>
              <a:srgbClr val="728157"/>
            </a:solidFill>
            <a:prstDash val="solid"/>
          </a:ln>
          <a:effectLst>
            <a:outerShdw sx="100000" sy="100000" kx="0" ky="0" algn="bl" rotWithShape="0" blurRad="101600" dist="63500" dir="2700000">
              <a:srgbClr val="402310">
                <a:alpha val="100000"/>
              </a:srgbClr>
            </a:outerShdw>
          </a:effectLst>
        </p:spPr>
      </p:sp>
      <p:sp>
        <p:nvSpPr>
          <p:cNvPr id="21" name="Shape 19"/>
          <p:cNvSpPr/>
          <p:nvPr/>
        </p:nvSpPr>
        <p:spPr>
          <a:xfrm>
            <a:off x="9208008" y="2286000"/>
            <a:ext cx="493776" cy="493776"/>
          </a:xfrm>
          <a:prstGeom prst="ellipse">
            <a:avLst/>
          </a:prstGeom>
          <a:solidFill>
            <a:srgbClr val="F9F4ED"/>
          </a:solidFill>
          <a:ln w="19050">
            <a:solidFill>
              <a:srgbClr val="F9F4ED"/>
            </a:solidFill>
            <a:prstDash val="solid"/>
          </a:ln>
        </p:spPr>
      </p:sp>
      <p:sp>
        <p:nvSpPr>
          <p:cNvPr id="22" name="Text 20"/>
          <p:cNvSpPr txBox="1"/>
          <p:nvPr/>
        </p:nvSpPr>
        <p:spPr>
          <a:xfrm>
            <a:off x="9208008" y="2286000"/>
            <a:ext cx="493776" cy="493776"/>
          </a:xfrm>
          <a:prstGeom prst="rect">
            <a:avLst/>
          </a:prstGeom>
          <a:noFill/>
          <a:ln/>
        </p:spPr>
        <p:txBody>
          <a:bodyPr wrap="square" lIns="0" tIns="0" rIns="0" bIns="0" rtlCol="0" anchor="ctr"/>
          <a:lstStyle/>
          <a:p>
            <a:pPr algn="ctr" indent="0" marL="0">
              <a:buNone/>
            </a:pPr>
            <a:r>
              <a:rPr lang="en-US" sz="1600" b="1" dirty="0">
                <a:solidFill>
                  <a:srgbClr val="728157"/>
                </a:solidFill>
                <a:latin typeface="Calibri" pitchFamily="34" charset="0"/>
                <a:ea typeface="Calibri" pitchFamily="34" charset="-122"/>
                <a:cs typeface="Calibri" pitchFamily="34" charset="-120"/>
              </a:rPr>
              <a:t>✓</a:t>
            </a:r>
            <a:endParaRPr lang="en-US" sz="1600" dirty="0"/>
          </a:p>
        </p:txBody>
      </p:sp>
      <p:sp>
        <p:nvSpPr>
          <p:cNvPr id="23" name="Text 21"/>
          <p:cNvSpPr txBox="1"/>
          <p:nvPr/>
        </p:nvSpPr>
        <p:spPr>
          <a:xfrm>
            <a:off x="9208008" y="2999232"/>
            <a:ext cx="2057400" cy="457200"/>
          </a:xfrm>
          <a:prstGeom prst="rect">
            <a:avLst/>
          </a:prstGeom>
          <a:noFill/>
          <a:ln/>
        </p:spPr>
        <p:txBody>
          <a:bodyPr wrap="square" lIns="0" tIns="0" rIns="0" bIns="0" rtlCol="0" anchor="ctr"/>
          <a:lstStyle/>
          <a:p>
            <a:pPr indent="0" marL="0">
              <a:buNone/>
            </a:pPr>
            <a:r>
              <a:rPr lang="en-US" sz="1100" b="1" spc="120" kern="0" dirty="0">
                <a:solidFill>
                  <a:srgbClr val="F9F4ED"/>
                </a:solidFill>
                <a:latin typeface="Calibri" pitchFamily="34" charset="0"/>
                <a:ea typeface="Calibri" pitchFamily="34" charset="-122"/>
                <a:cs typeface="Calibri" pitchFamily="34" charset="-120"/>
              </a:rPr>
              <a:t>NUTRIBRICK</a:t>
            </a:r>
            <a:endParaRPr lang="en-US" sz="1100" dirty="0"/>
          </a:p>
        </p:txBody>
      </p:sp>
      <p:sp>
        <p:nvSpPr>
          <p:cNvPr id="24" name="Text 22"/>
          <p:cNvSpPr txBox="1"/>
          <p:nvPr/>
        </p:nvSpPr>
        <p:spPr>
          <a:xfrm>
            <a:off x="9208008" y="3566160"/>
            <a:ext cx="2057400" cy="2011680"/>
          </a:xfrm>
          <a:prstGeom prst="rect">
            <a:avLst/>
          </a:prstGeom>
          <a:noFill/>
          <a:ln/>
        </p:spPr>
        <p:txBody>
          <a:bodyPr wrap="square" lIns="0" tIns="0" rIns="0" bIns="0" rtlCol="0" anchor="ctr"/>
          <a:lstStyle/>
          <a:p>
            <a:pPr indent="0" marL="0">
              <a:lnSpc>
                <a:spcPts val="2000"/>
              </a:lnSpc>
              <a:buNone/>
            </a:pPr>
            <a:r>
              <a:rPr lang="en-US" sz="1350" dirty="0">
                <a:solidFill>
                  <a:srgbClr val="F9F4ED"/>
                </a:solidFill>
                <a:latin typeface="Calibri" pitchFamily="34" charset="0"/>
                <a:ea typeface="Calibri" pitchFamily="34" charset="-122"/>
                <a:cs typeface="Calibri" pitchFamily="34" charset="-120"/>
              </a:rPr>
              <a:t>Play and nutrition in the same bite. In store, and no subscription.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E1D0"/>
        </a:solidFill>
      </p:bgPr>
    </p:bg>
    <p:spTree>
      <p:nvGrpSpPr>
        <p:cNvPr id="1" name=""/>
        <p:cNvGrpSpPr/>
        <p:nvPr/>
      </p:nvGrpSpPr>
      <p:grpSpPr>
        <a:xfrm>
          <a:off x="0" y="0"/>
          <a:ext cx="0" cy="0"/>
          <a:chOff x="0" y="0"/>
          <a:chExt cx="0" cy="0"/>
        </a:xfrm>
      </p:grpSpPr>
      <p:sp>
        <p:nvSpPr>
          <p:cNvPr id="2" name="Shape 0"/>
          <p:cNvSpPr/>
          <p:nvPr/>
        </p:nvSpPr>
        <p:spPr>
          <a:xfrm>
            <a:off x="566928" y="566928"/>
            <a:ext cx="2834640" cy="384048"/>
          </a:xfrm>
          <a:prstGeom prst="roundRect">
            <a:avLst>
              <a:gd name="adj" fmla="val 119048"/>
            </a:avLst>
          </a:prstGeom>
          <a:solidFill>
            <a:srgbClr val="402310"/>
          </a:solidFill>
          <a:ln w="25400">
            <a:solidFill>
              <a:srgbClr val="402310"/>
            </a:solidFill>
            <a:prstDash val="solid"/>
          </a:ln>
        </p:spPr>
      </p:sp>
      <p:sp>
        <p:nvSpPr>
          <p:cNvPr id="3" name="Text 1"/>
          <p:cNvSpPr txBox="1"/>
          <p:nvPr/>
        </p:nvSpPr>
        <p:spPr>
          <a:xfrm>
            <a:off x="566928" y="566928"/>
            <a:ext cx="2834640" cy="384048"/>
          </a:xfrm>
          <a:prstGeom prst="rect">
            <a:avLst/>
          </a:prstGeom>
          <a:noFill/>
          <a:ln/>
        </p:spPr>
        <p:txBody>
          <a:bodyPr wrap="square" lIns="0" tIns="0" rIns="0" bIns="0" rtlCol="0" anchor="ctr"/>
          <a:lstStyle/>
          <a:p>
            <a:pPr algn="ctr" indent="0" marL="0">
              <a:buNone/>
            </a:pPr>
            <a:r>
              <a:rPr lang="en-US" sz="1100" b="1" spc="140" kern="0" dirty="0">
                <a:solidFill>
                  <a:srgbClr val="F9F4ED"/>
                </a:solidFill>
                <a:latin typeface="Calibri" pitchFamily="34" charset="0"/>
                <a:ea typeface="Calibri" pitchFamily="34" charset="-122"/>
                <a:cs typeface="Calibri" pitchFamily="34" charset="-120"/>
              </a:rPr>
              <a:t>NUTRITION, MADE VISIBLE</a:t>
            </a:r>
            <a:endParaRPr lang="en-US" sz="1100" dirty="0"/>
          </a:p>
        </p:txBody>
      </p:sp>
      <p:sp>
        <p:nvSpPr>
          <p:cNvPr id="4" name="Text 2"/>
          <p:cNvSpPr txBox="1"/>
          <p:nvPr/>
        </p:nvSpPr>
        <p:spPr>
          <a:xfrm>
            <a:off x="566928" y="1078992"/>
            <a:ext cx="8229600" cy="640080"/>
          </a:xfrm>
          <a:prstGeom prst="rect">
            <a:avLst/>
          </a:prstGeom>
          <a:noFill/>
          <a:ln/>
        </p:spPr>
        <p:txBody>
          <a:bodyPr wrap="square" lIns="0" tIns="0" rIns="0" bIns="0" rtlCol="0" anchor="ctr"/>
          <a:lstStyle/>
          <a:p>
            <a:pPr indent="0" marL="0">
              <a:buNone/>
            </a:pPr>
            <a:r>
              <a:rPr lang="en-US" sz="3200" b="1" dirty="0">
                <a:solidFill>
                  <a:srgbClr val="402310"/>
                </a:solidFill>
                <a:latin typeface="Bookman Old Style" pitchFamily="34" charset="0"/>
                <a:ea typeface="Bookman Old Style" pitchFamily="34" charset="-122"/>
                <a:cs typeface="Bookman Old Style" pitchFamily="34" charset="-120"/>
              </a:rPr>
              <a:t>One brick. 45g. Here is all of it.</a:t>
            </a:r>
            <a:endParaRPr lang="en-US" sz="3200" dirty="0"/>
          </a:p>
        </p:txBody>
      </p:sp>
      <p:sp>
        <p:nvSpPr>
          <p:cNvPr id="5" name="Shape 3"/>
          <p:cNvSpPr/>
          <p:nvPr/>
        </p:nvSpPr>
        <p:spPr>
          <a:xfrm>
            <a:off x="566928" y="1965960"/>
            <a:ext cx="2606040" cy="1234440"/>
          </a:xfrm>
          <a:prstGeom prst="roundRect">
            <a:avLst>
              <a:gd name="adj" fmla="val 13333"/>
            </a:avLst>
          </a:prstGeom>
          <a:solidFill>
            <a:srgbClr val="FFF2EB"/>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6" name="Text 4"/>
          <p:cNvSpPr txBox="1"/>
          <p:nvPr/>
        </p:nvSpPr>
        <p:spPr>
          <a:xfrm>
            <a:off x="841248" y="2139696"/>
            <a:ext cx="2103120" cy="640080"/>
          </a:xfrm>
          <a:prstGeom prst="rect">
            <a:avLst/>
          </a:prstGeom>
          <a:noFill/>
          <a:ln/>
        </p:spPr>
        <p:txBody>
          <a:bodyPr wrap="square" lIns="0" tIns="0" rIns="0" bIns="0" rtlCol="0" anchor="ctr"/>
          <a:lstStyle/>
          <a:p>
            <a:pPr indent="0" marL="0">
              <a:buNone/>
            </a:pPr>
            <a:r>
              <a:rPr lang="en-US" sz="3100" b="1" dirty="0">
                <a:solidFill>
                  <a:srgbClr val="B2622D"/>
                </a:solidFill>
                <a:latin typeface="Bookman Old Style" pitchFamily="34" charset="0"/>
                <a:ea typeface="Bookman Old Style" pitchFamily="34" charset="-122"/>
                <a:cs typeface="Bookman Old Style" pitchFamily="34" charset="-120"/>
              </a:rPr>
              <a:t>203</a:t>
            </a:r>
            <a:endParaRPr lang="en-US" sz="3100" dirty="0"/>
          </a:p>
        </p:txBody>
      </p:sp>
      <p:sp>
        <p:nvSpPr>
          <p:cNvPr id="7" name="Text 5"/>
          <p:cNvSpPr txBox="1"/>
          <p:nvPr/>
        </p:nvSpPr>
        <p:spPr>
          <a:xfrm>
            <a:off x="841248" y="2761488"/>
            <a:ext cx="2103120" cy="320040"/>
          </a:xfrm>
          <a:prstGeom prst="rect">
            <a:avLst/>
          </a:prstGeom>
          <a:noFill/>
          <a:ln/>
        </p:spPr>
        <p:txBody>
          <a:bodyPr wrap="square" lIns="0" tIns="0" rIns="0" bIns="0" rtlCol="0" anchor="ctr"/>
          <a:lstStyle/>
          <a:p>
            <a:pPr indent="0" marL="0">
              <a:buNone/>
            </a:pPr>
            <a:r>
              <a:rPr lang="en-US" sz="1050" b="1" spc="120" kern="0" dirty="0">
                <a:solidFill>
                  <a:srgbClr val="645C50"/>
                </a:solidFill>
                <a:latin typeface="Calibri" pitchFamily="34" charset="0"/>
                <a:ea typeface="Calibri" pitchFamily="34" charset="-122"/>
                <a:cs typeface="Calibri" pitchFamily="34" charset="-120"/>
              </a:rPr>
              <a:t>KCAL</a:t>
            </a:r>
            <a:endParaRPr lang="en-US" sz="1050" dirty="0"/>
          </a:p>
        </p:txBody>
      </p:sp>
      <p:sp>
        <p:nvSpPr>
          <p:cNvPr id="8" name="Shape 6"/>
          <p:cNvSpPr/>
          <p:nvPr/>
        </p:nvSpPr>
        <p:spPr>
          <a:xfrm>
            <a:off x="3355848" y="1965960"/>
            <a:ext cx="2606040" cy="1234440"/>
          </a:xfrm>
          <a:prstGeom prst="roundRect">
            <a:avLst>
              <a:gd name="adj" fmla="val 13333"/>
            </a:avLst>
          </a:prstGeom>
          <a:solidFill>
            <a:srgbClr val="FFF2EB"/>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9" name="Text 7"/>
          <p:cNvSpPr txBox="1"/>
          <p:nvPr/>
        </p:nvSpPr>
        <p:spPr>
          <a:xfrm>
            <a:off x="3630168" y="2139696"/>
            <a:ext cx="2103120" cy="640080"/>
          </a:xfrm>
          <a:prstGeom prst="rect">
            <a:avLst/>
          </a:prstGeom>
          <a:noFill/>
          <a:ln/>
        </p:spPr>
        <p:txBody>
          <a:bodyPr wrap="square" lIns="0" tIns="0" rIns="0" bIns="0" rtlCol="0" anchor="ctr"/>
          <a:lstStyle/>
          <a:p>
            <a:pPr indent="0" marL="0">
              <a:buNone/>
            </a:pPr>
            <a:r>
              <a:rPr lang="en-US" sz="3100" b="1" dirty="0">
                <a:solidFill>
                  <a:srgbClr val="B2622D"/>
                </a:solidFill>
                <a:latin typeface="Bookman Old Style" pitchFamily="34" charset="0"/>
                <a:ea typeface="Bookman Old Style" pitchFamily="34" charset="-122"/>
                <a:cs typeface="Bookman Old Style" pitchFamily="34" charset="-120"/>
              </a:rPr>
              <a:t>13g</a:t>
            </a:r>
            <a:endParaRPr lang="en-US" sz="3100" dirty="0"/>
          </a:p>
        </p:txBody>
      </p:sp>
      <p:sp>
        <p:nvSpPr>
          <p:cNvPr id="10" name="Text 8"/>
          <p:cNvSpPr txBox="1"/>
          <p:nvPr/>
        </p:nvSpPr>
        <p:spPr>
          <a:xfrm>
            <a:off x="3630168" y="2761488"/>
            <a:ext cx="2103120" cy="320040"/>
          </a:xfrm>
          <a:prstGeom prst="rect">
            <a:avLst/>
          </a:prstGeom>
          <a:noFill/>
          <a:ln/>
        </p:spPr>
        <p:txBody>
          <a:bodyPr wrap="square" lIns="0" tIns="0" rIns="0" bIns="0" rtlCol="0" anchor="ctr"/>
          <a:lstStyle/>
          <a:p>
            <a:pPr indent="0" marL="0">
              <a:buNone/>
            </a:pPr>
            <a:r>
              <a:rPr lang="en-US" sz="1050" b="1" spc="120" kern="0" dirty="0">
                <a:solidFill>
                  <a:srgbClr val="645C50"/>
                </a:solidFill>
                <a:latin typeface="Calibri" pitchFamily="34" charset="0"/>
                <a:ea typeface="Calibri" pitchFamily="34" charset="-122"/>
                <a:cs typeface="Calibri" pitchFamily="34" charset="-120"/>
              </a:rPr>
              <a:t>PROTEIN</a:t>
            </a:r>
            <a:endParaRPr lang="en-US" sz="1050" dirty="0"/>
          </a:p>
        </p:txBody>
      </p:sp>
      <p:sp>
        <p:nvSpPr>
          <p:cNvPr id="11" name="Shape 9"/>
          <p:cNvSpPr/>
          <p:nvPr/>
        </p:nvSpPr>
        <p:spPr>
          <a:xfrm>
            <a:off x="6144768" y="1965960"/>
            <a:ext cx="2606040" cy="1234440"/>
          </a:xfrm>
          <a:prstGeom prst="roundRect">
            <a:avLst>
              <a:gd name="adj" fmla="val 13333"/>
            </a:avLst>
          </a:prstGeom>
          <a:solidFill>
            <a:srgbClr val="FFF2EB"/>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12" name="Text 10"/>
          <p:cNvSpPr txBox="1"/>
          <p:nvPr/>
        </p:nvSpPr>
        <p:spPr>
          <a:xfrm>
            <a:off x="6419088" y="2139696"/>
            <a:ext cx="2103120" cy="640080"/>
          </a:xfrm>
          <a:prstGeom prst="rect">
            <a:avLst/>
          </a:prstGeom>
          <a:noFill/>
          <a:ln/>
        </p:spPr>
        <p:txBody>
          <a:bodyPr wrap="square" lIns="0" tIns="0" rIns="0" bIns="0" rtlCol="0" anchor="ctr"/>
          <a:lstStyle/>
          <a:p>
            <a:pPr indent="0" marL="0">
              <a:buNone/>
            </a:pPr>
            <a:r>
              <a:rPr lang="en-US" sz="3100" b="1" dirty="0">
                <a:solidFill>
                  <a:srgbClr val="728157"/>
                </a:solidFill>
                <a:latin typeface="Bookman Old Style" pitchFamily="34" charset="0"/>
                <a:ea typeface="Bookman Old Style" pitchFamily="34" charset="-122"/>
                <a:cs typeface="Bookman Old Style" pitchFamily="34" charset="-120"/>
              </a:rPr>
              <a:t>4g</a:t>
            </a:r>
            <a:endParaRPr lang="en-US" sz="3100" dirty="0"/>
          </a:p>
        </p:txBody>
      </p:sp>
      <p:sp>
        <p:nvSpPr>
          <p:cNvPr id="13" name="Text 11"/>
          <p:cNvSpPr txBox="1"/>
          <p:nvPr/>
        </p:nvSpPr>
        <p:spPr>
          <a:xfrm>
            <a:off x="6419088" y="2761488"/>
            <a:ext cx="2103120" cy="320040"/>
          </a:xfrm>
          <a:prstGeom prst="rect">
            <a:avLst/>
          </a:prstGeom>
          <a:noFill/>
          <a:ln/>
        </p:spPr>
        <p:txBody>
          <a:bodyPr wrap="square" lIns="0" tIns="0" rIns="0" bIns="0" rtlCol="0" anchor="ctr"/>
          <a:lstStyle/>
          <a:p>
            <a:pPr indent="0" marL="0">
              <a:buNone/>
            </a:pPr>
            <a:r>
              <a:rPr lang="en-US" sz="1050" b="1" spc="120" kern="0" dirty="0">
                <a:solidFill>
                  <a:srgbClr val="645C50"/>
                </a:solidFill>
                <a:latin typeface="Calibri" pitchFamily="34" charset="0"/>
                <a:ea typeface="Calibri" pitchFamily="34" charset="-122"/>
                <a:cs typeface="Calibri" pitchFamily="34" charset="-120"/>
              </a:rPr>
              <a:t>FIBRE</a:t>
            </a:r>
            <a:endParaRPr lang="en-US" sz="1050" dirty="0"/>
          </a:p>
        </p:txBody>
      </p:sp>
      <p:sp>
        <p:nvSpPr>
          <p:cNvPr id="14" name="Shape 12"/>
          <p:cNvSpPr/>
          <p:nvPr/>
        </p:nvSpPr>
        <p:spPr>
          <a:xfrm>
            <a:off x="8933688" y="1965960"/>
            <a:ext cx="2606040" cy="1234440"/>
          </a:xfrm>
          <a:prstGeom prst="roundRect">
            <a:avLst>
              <a:gd name="adj" fmla="val 13333"/>
            </a:avLst>
          </a:prstGeom>
          <a:solidFill>
            <a:srgbClr val="FFF2EB"/>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15" name="Text 13"/>
          <p:cNvSpPr txBox="1"/>
          <p:nvPr/>
        </p:nvSpPr>
        <p:spPr>
          <a:xfrm>
            <a:off x="9208008" y="2139696"/>
            <a:ext cx="2103120" cy="640080"/>
          </a:xfrm>
          <a:prstGeom prst="rect">
            <a:avLst/>
          </a:prstGeom>
          <a:noFill/>
          <a:ln/>
        </p:spPr>
        <p:txBody>
          <a:bodyPr wrap="square" lIns="0" tIns="0" rIns="0" bIns="0" rtlCol="0" anchor="ctr"/>
          <a:lstStyle/>
          <a:p>
            <a:pPr indent="0" marL="0">
              <a:buNone/>
            </a:pPr>
            <a:r>
              <a:rPr lang="en-US" sz="3100" b="1" dirty="0">
                <a:solidFill>
                  <a:srgbClr val="728157"/>
                </a:solidFill>
                <a:latin typeface="Bookman Old Style" pitchFamily="34" charset="0"/>
                <a:ea typeface="Bookman Old Style" pitchFamily="34" charset="-122"/>
                <a:cs typeface="Bookman Old Style" pitchFamily="34" charset="-120"/>
              </a:rPr>
              <a:t>100%</a:t>
            </a:r>
            <a:endParaRPr lang="en-US" sz="3100" dirty="0"/>
          </a:p>
        </p:txBody>
      </p:sp>
      <p:sp>
        <p:nvSpPr>
          <p:cNvPr id="16" name="Text 14"/>
          <p:cNvSpPr txBox="1"/>
          <p:nvPr/>
        </p:nvSpPr>
        <p:spPr>
          <a:xfrm>
            <a:off x="9208008" y="2761488"/>
            <a:ext cx="2103120" cy="320040"/>
          </a:xfrm>
          <a:prstGeom prst="rect">
            <a:avLst/>
          </a:prstGeom>
          <a:noFill/>
          <a:ln/>
        </p:spPr>
        <p:txBody>
          <a:bodyPr wrap="square" lIns="0" tIns="0" rIns="0" bIns="0" rtlCol="0" anchor="ctr"/>
          <a:lstStyle/>
          <a:p>
            <a:pPr indent="0" marL="0">
              <a:buNone/>
            </a:pPr>
            <a:r>
              <a:rPr lang="en-US" sz="1050" b="1" spc="120" kern="0" dirty="0">
                <a:solidFill>
                  <a:srgbClr val="645C50"/>
                </a:solidFill>
                <a:latin typeface="Calibri" pitchFamily="34" charset="0"/>
                <a:ea typeface="Calibri" pitchFamily="34" charset="-122"/>
                <a:cs typeface="Calibri" pitchFamily="34" charset="-120"/>
              </a:rPr>
              <a:t>VIT C, A &amp; D</a:t>
            </a:r>
            <a:endParaRPr lang="en-US" sz="1050" dirty="0"/>
          </a:p>
        </p:txBody>
      </p:sp>
      <p:sp>
        <p:nvSpPr>
          <p:cNvPr id="17" name="Shape 15"/>
          <p:cNvSpPr/>
          <p:nvPr/>
        </p:nvSpPr>
        <p:spPr>
          <a:xfrm>
            <a:off x="566928" y="3520440"/>
            <a:ext cx="6675120" cy="2148840"/>
          </a:xfrm>
          <a:prstGeom prst="roundRect">
            <a:avLst>
              <a:gd name="adj" fmla="val 7660"/>
            </a:avLst>
          </a:prstGeom>
          <a:solidFill>
            <a:srgbClr val="FFF2EB"/>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18" name="Text 16"/>
          <p:cNvSpPr txBox="1"/>
          <p:nvPr/>
        </p:nvSpPr>
        <p:spPr>
          <a:xfrm>
            <a:off x="886968" y="3730752"/>
            <a:ext cx="6035040" cy="384048"/>
          </a:xfrm>
          <a:prstGeom prst="rect">
            <a:avLst/>
          </a:prstGeom>
          <a:noFill/>
          <a:ln/>
        </p:spPr>
        <p:txBody>
          <a:bodyPr wrap="square" lIns="0" tIns="0" rIns="0" bIns="0" rtlCol="0" anchor="ctr"/>
          <a:lstStyle/>
          <a:p>
            <a:pPr indent="0" marL="0">
              <a:buNone/>
            </a:pPr>
            <a:r>
              <a:rPr lang="en-US" sz="1700" b="1" dirty="0">
                <a:solidFill>
                  <a:srgbClr val="402310"/>
                </a:solidFill>
                <a:latin typeface="Bookman Old Style" pitchFamily="34" charset="0"/>
                <a:ea typeface="Bookman Old Style" pitchFamily="34" charset="-122"/>
                <a:cs typeface="Bookman Old Style" pitchFamily="34" charset="-120"/>
              </a:rPr>
              <a:t>Seven ingredients, in plain words</a:t>
            </a:r>
            <a:endParaRPr lang="en-US" sz="1700" dirty="0"/>
          </a:p>
        </p:txBody>
      </p:sp>
      <p:sp>
        <p:nvSpPr>
          <p:cNvPr id="19" name="Text 17"/>
          <p:cNvSpPr txBox="1"/>
          <p:nvPr/>
        </p:nvSpPr>
        <p:spPr>
          <a:xfrm>
            <a:off x="886968" y="4206240"/>
            <a:ext cx="6035040" cy="137160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2E2B25"/>
                </a:solidFill>
                <a:latin typeface="Calibri" pitchFamily="34" charset="0"/>
                <a:ea typeface="Calibri" pitchFamily="34" charset="-122"/>
                <a:cs typeface="Calibri" pitchFamily="34" charset="-120"/>
              </a:rPr>
              <a:t>Rolled oats — slow-release energy and fibre</a:t>
            </a:r>
            <a:endParaRPr lang="en-US" sz="1150" dirty="0"/>
          </a:p>
          <a:p>
            <a:pPr marL="342900" indent="-342900">
              <a:spcAft>
                <a:spcPts val="300"/>
              </a:spcAft>
              <a:buSzPct val="100000"/>
              <a:buChar char="•"/>
            </a:pPr>
            <a:r>
              <a:rPr lang="en-US" sz="1150" dirty="0">
                <a:solidFill>
                  <a:srgbClr val="2E2B25"/>
                </a:solidFill>
                <a:latin typeface="Calibri" pitchFamily="34" charset="0"/>
                <a:ea typeface="Calibri" pitchFamily="34" charset="-122"/>
                <a:cs typeface="Calibri" pitchFamily="34" charset="-120"/>
              </a:rPr>
              <a:t>Sunflower seed butter — the bind, and nut-free</a:t>
            </a:r>
            <a:endParaRPr lang="en-US" sz="1150" dirty="0"/>
          </a:p>
          <a:p>
            <a:pPr marL="342900" indent="-342900">
              <a:spcAft>
                <a:spcPts val="300"/>
              </a:spcAft>
              <a:buSzPct val="100000"/>
              <a:buChar char="•"/>
            </a:pPr>
            <a:r>
              <a:rPr lang="en-US" sz="1150" dirty="0">
                <a:solidFill>
                  <a:srgbClr val="2E2B25"/>
                </a:solidFill>
                <a:latin typeface="Calibri" pitchFamily="34" charset="0"/>
                <a:ea typeface="Calibri" pitchFamily="34" charset="-122"/>
                <a:cs typeface="Calibri" pitchFamily="34" charset="-120"/>
              </a:rPr>
              <a:t>Milk protein — the 13g of protein</a:t>
            </a:r>
            <a:endParaRPr lang="en-US" sz="1150" dirty="0"/>
          </a:p>
          <a:p>
            <a:pPr marL="342900" indent="-342900">
              <a:spcAft>
                <a:spcPts val="300"/>
              </a:spcAft>
              <a:buSzPct val="100000"/>
              <a:buChar char="•"/>
            </a:pPr>
            <a:r>
              <a:rPr lang="en-US" sz="1150" dirty="0">
                <a:solidFill>
                  <a:srgbClr val="2E2B25"/>
                </a:solidFill>
                <a:latin typeface="Calibri" pitchFamily="34" charset="0"/>
                <a:ea typeface="Calibri" pitchFamily="34" charset="-122"/>
                <a:cs typeface="Calibri" pitchFamily="34" charset="-120"/>
              </a:rPr>
              <a:t>Dates — sweetness instead of refined sugar</a:t>
            </a:r>
            <a:endParaRPr lang="en-US" sz="1150" dirty="0"/>
          </a:p>
          <a:p>
            <a:pPr marL="342900" indent="-342900">
              <a:spcAft>
                <a:spcPts val="300"/>
              </a:spcAft>
              <a:buSzPct val="100000"/>
              <a:buChar char="•"/>
            </a:pPr>
            <a:r>
              <a:rPr lang="en-US" sz="1150" dirty="0">
                <a:solidFill>
                  <a:srgbClr val="2E2B25"/>
                </a:solidFill>
                <a:latin typeface="Calibri" pitchFamily="34" charset="0"/>
                <a:ea typeface="Calibri" pitchFamily="34" charset="-122"/>
                <a:cs typeface="Calibri" pitchFamily="34" charset="-120"/>
              </a:rPr>
              <a:t>Chia and flaxseed — omega-3 and fibre</a:t>
            </a:r>
            <a:endParaRPr lang="en-US" sz="1150" dirty="0"/>
          </a:p>
          <a:p>
            <a:pPr marL="342900" indent="-342900">
              <a:spcAft>
                <a:spcPts val="300"/>
              </a:spcAft>
              <a:buSzPct val="100000"/>
              <a:buChar char="•"/>
            </a:pPr>
            <a:r>
              <a:rPr lang="en-US" sz="1150" dirty="0">
                <a:solidFill>
                  <a:srgbClr val="2E2B25"/>
                </a:solidFill>
                <a:latin typeface="Calibri" pitchFamily="34" charset="0"/>
                <a:ea typeface="Calibri" pitchFamily="34" charset="-122"/>
                <a:cs typeface="Calibri" pitchFamily="34" charset="-120"/>
              </a:rPr>
              <a:t>Cocoa and cinnamon — the flavour kids ask for</a:t>
            </a:r>
            <a:endParaRPr lang="en-US" sz="1150" dirty="0"/>
          </a:p>
          <a:p>
            <a:pPr marL="342900" indent="-342900">
              <a:spcAft>
                <a:spcPts val="300"/>
              </a:spcAft>
              <a:buSzPct val="100000"/>
              <a:buChar char="•"/>
            </a:pPr>
            <a:r>
              <a:rPr lang="en-US" sz="1150" dirty="0">
                <a:solidFill>
                  <a:srgbClr val="2E2B25"/>
                </a:solidFill>
                <a:latin typeface="Calibri" pitchFamily="34" charset="0"/>
                <a:ea typeface="Calibri" pitchFamily="34" charset="-122"/>
                <a:cs typeface="Calibri" pitchFamily="34" charset="-120"/>
              </a:rPr>
              <a:t>Added vitamins C, A and D — the only part we fortify</a:t>
            </a:r>
            <a:endParaRPr lang="en-US" sz="1150" dirty="0"/>
          </a:p>
        </p:txBody>
      </p:sp>
      <p:sp>
        <p:nvSpPr>
          <p:cNvPr id="20" name="Shape 18"/>
          <p:cNvSpPr/>
          <p:nvPr/>
        </p:nvSpPr>
        <p:spPr>
          <a:xfrm>
            <a:off x="7589520" y="3520440"/>
            <a:ext cx="4023360" cy="2148840"/>
          </a:xfrm>
          <a:prstGeom prst="roundRect">
            <a:avLst>
              <a:gd name="adj" fmla="val 7660"/>
            </a:avLst>
          </a:prstGeom>
          <a:solidFill>
            <a:srgbClr val="402310"/>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21" name="Text 19"/>
          <p:cNvSpPr txBox="1"/>
          <p:nvPr/>
        </p:nvSpPr>
        <p:spPr>
          <a:xfrm>
            <a:off x="7882128" y="3749040"/>
            <a:ext cx="3474720" cy="822960"/>
          </a:xfrm>
          <a:prstGeom prst="rect">
            <a:avLst/>
          </a:prstGeom>
          <a:noFill/>
          <a:ln/>
        </p:spPr>
        <p:txBody>
          <a:bodyPr wrap="square" lIns="0" tIns="0" rIns="0" bIns="0" rtlCol="0" anchor="ctr"/>
          <a:lstStyle/>
          <a:p>
            <a:pPr indent="0" marL="0">
              <a:lnSpc>
                <a:spcPts val="1900"/>
              </a:lnSpc>
              <a:buNone/>
            </a:pPr>
            <a:r>
              <a:rPr lang="en-US" sz="1300" dirty="0">
                <a:solidFill>
                  <a:srgbClr val="FFE1D0"/>
                </a:solidFill>
                <a:latin typeface="Calibri" pitchFamily="34" charset="0"/>
                <a:ea typeface="Calibri" pitchFamily="34" charset="-122"/>
                <a:cs typeface="Calibri" pitchFamily="34" charset="-120"/>
              </a:rPr>
              <a:t>Figures are formulation targets for the concept, not tested label values.</a:t>
            </a:r>
            <a:endParaRPr lang="en-US" sz="1300" dirty="0"/>
          </a:p>
        </p:txBody>
      </p:sp>
      <p:sp>
        <p:nvSpPr>
          <p:cNvPr id="22" name="Text 20"/>
          <p:cNvSpPr txBox="1"/>
          <p:nvPr/>
        </p:nvSpPr>
        <p:spPr>
          <a:xfrm>
            <a:off x="7882128" y="4617720"/>
            <a:ext cx="3474720" cy="914400"/>
          </a:xfrm>
          <a:prstGeom prst="rect">
            <a:avLst/>
          </a:prstGeom>
          <a:noFill/>
          <a:ln/>
        </p:spPr>
        <p:txBody>
          <a:bodyPr wrap="square" lIns="0" tIns="0" rIns="0" bIns="0" rtlCol="0" anchor="ctr"/>
          <a:lstStyle/>
          <a:p>
            <a:pPr indent="0" marL="0">
              <a:lnSpc>
                <a:spcPts val="2100"/>
              </a:lnSpc>
              <a:buNone/>
            </a:pPr>
            <a:r>
              <a:rPr lang="en-US" sz="1400" b="1" dirty="0">
                <a:solidFill>
                  <a:srgbClr val="F9F4ED"/>
                </a:solidFill>
                <a:latin typeface="Calibri" pitchFamily="34" charset="0"/>
                <a:ea typeface="Calibri" pitchFamily="34" charset="-122"/>
                <a:cs typeface="Calibri" pitchFamily="34" charset="-120"/>
              </a:rPr>
              <a:t>Nut-free  ·  No gelatine</a:t>
            </a:r>
            <a:endParaRPr lang="en-US" sz="1400" dirty="0"/>
          </a:p>
          <a:p>
            <a:pPr indent="0" marL="0">
              <a:lnSpc>
                <a:spcPts val="2100"/>
              </a:lnSpc>
              <a:buNone/>
            </a:pPr>
            <a:r>
              <a:rPr lang="en-US" sz="1400" b="1" dirty="0">
                <a:solidFill>
                  <a:srgbClr val="F9F4ED"/>
                </a:solidFill>
                <a:latin typeface="Calibri" pitchFamily="34" charset="0"/>
                <a:ea typeface="Calibri" pitchFamily="34" charset="-122"/>
                <a:cs typeface="Calibri" pitchFamily="34" charset="-120"/>
              </a:rPr>
              <a:t>No refined sugar</a:t>
            </a:r>
            <a:endParaRPr lang="en-US" sz="1400" dirty="0"/>
          </a:p>
          <a:p>
            <a:pPr indent="0" marL="0">
              <a:lnSpc>
                <a:spcPts val="2100"/>
              </a:lnSpc>
              <a:buNone/>
            </a:pPr>
            <a:r>
              <a:rPr lang="en-US" sz="1400" b="1" dirty="0">
                <a:solidFill>
                  <a:srgbClr val="F9F4ED"/>
                </a:solidFill>
                <a:latin typeface="Calibri" pitchFamily="34" charset="0"/>
                <a:ea typeface="Calibri" pitchFamily="34" charset="-122"/>
                <a:cs typeface="Calibri" pitchFamily="34" charset="-120"/>
              </a:rPr>
              <a:t>No artificial colours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AD8"/>
        </a:solidFill>
      </p:bgPr>
    </p:bg>
    <p:spTree>
      <p:nvGrpSpPr>
        <p:cNvPr id="1" name=""/>
        <p:cNvGrpSpPr/>
        <p:nvPr/>
      </p:nvGrpSpPr>
      <p:grpSpPr>
        <a:xfrm>
          <a:off x="0" y="0"/>
          <a:ext cx="0" cy="0"/>
          <a:chOff x="0" y="0"/>
          <a:chExt cx="0" cy="0"/>
        </a:xfrm>
      </p:grpSpPr>
      <p:sp>
        <p:nvSpPr>
          <p:cNvPr id="2" name="Shape 0"/>
          <p:cNvSpPr/>
          <p:nvPr/>
        </p:nvSpPr>
        <p:spPr>
          <a:xfrm>
            <a:off x="566928" y="566928"/>
            <a:ext cx="1371600" cy="384048"/>
          </a:xfrm>
          <a:prstGeom prst="roundRect">
            <a:avLst>
              <a:gd name="adj" fmla="val 119048"/>
            </a:avLst>
          </a:prstGeom>
          <a:solidFill>
            <a:srgbClr val="402310"/>
          </a:solidFill>
          <a:ln w="25400">
            <a:solidFill>
              <a:srgbClr val="402310"/>
            </a:solidFill>
            <a:prstDash val="solid"/>
          </a:ln>
        </p:spPr>
      </p:sp>
      <p:sp>
        <p:nvSpPr>
          <p:cNvPr id="3" name="Text 1"/>
          <p:cNvSpPr txBox="1"/>
          <p:nvPr/>
        </p:nvSpPr>
        <p:spPr>
          <a:xfrm>
            <a:off x="566928" y="566928"/>
            <a:ext cx="1371600" cy="384048"/>
          </a:xfrm>
          <a:prstGeom prst="rect">
            <a:avLst/>
          </a:prstGeom>
          <a:noFill/>
          <a:ln/>
        </p:spPr>
        <p:txBody>
          <a:bodyPr wrap="square" lIns="0" tIns="0" rIns="0" bIns="0" rtlCol="0" anchor="ctr"/>
          <a:lstStyle/>
          <a:p>
            <a:pPr algn="ctr" indent="0" marL="0">
              <a:buNone/>
            </a:pPr>
            <a:r>
              <a:rPr lang="en-US" sz="1100" b="1" spc="140" kern="0" dirty="0">
                <a:solidFill>
                  <a:srgbClr val="F9F4ED"/>
                </a:solidFill>
                <a:latin typeface="Calibri" pitchFamily="34" charset="0"/>
                <a:ea typeface="Calibri" pitchFamily="34" charset="-122"/>
                <a:cs typeface="Calibri" pitchFamily="34" charset="-120"/>
              </a:rPr>
              <a:t>PRICING</a:t>
            </a:r>
            <a:endParaRPr lang="en-US" sz="1100" dirty="0"/>
          </a:p>
        </p:txBody>
      </p:sp>
      <p:sp>
        <p:nvSpPr>
          <p:cNvPr id="4" name="Text 2"/>
          <p:cNvSpPr txBox="1"/>
          <p:nvPr/>
        </p:nvSpPr>
        <p:spPr>
          <a:xfrm>
            <a:off x="566928" y="1051560"/>
            <a:ext cx="3291840" cy="1234440"/>
          </a:xfrm>
          <a:prstGeom prst="rect">
            <a:avLst/>
          </a:prstGeom>
          <a:noFill/>
          <a:ln/>
        </p:spPr>
        <p:txBody>
          <a:bodyPr wrap="square" lIns="0" tIns="0" rIns="0" bIns="0" rtlCol="0" anchor="ctr"/>
          <a:lstStyle/>
          <a:p>
            <a:pPr indent="0" marL="0">
              <a:buNone/>
            </a:pPr>
            <a:r>
              <a:rPr lang="en-US" sz="6400" b="1" dirty="0">
                <a:solidFill>
                  <a:srgbClr val="402310"/>
                </a:solidFill>
                <a:latin typeface="Bookman Old Style" pitchFamily="34" charset="0"/>
                <a:ea typeface="Bookman Old Style" pitchFamily="34" charset="-122"/>
                <a:cs typeface="Bookman Old Style" pitchFamily="34" charset="-120"/>
              </a:rPr>
              <a:t>$2.00</a:t>
            </a:r>
            <a:endParaRPr lang="en-US" sz="6400" dirty="0"/>
          </a:p>
        </p:txBody>
      </p:sp>
      <p:sp>
        <p:nvSpPr>
          <p:cNvPr id="5" name="Text 3"/>
          <p:cNvSpPr txBox="1"/>
          <p:nvPr/>
        </p:nvSpPr>
        <p:spPr>
          <a:xfrm>
            <a:off x="3630168" y="1783080"/>
            <a:ext cx="1645920" cy="365760"/>
          </a:xfrm>
          <a:prstGeom prst="rect">
            <a:avLst/>
          </a:prstGeom>
          <a:noFill/>
          <a:ln/>
        </p:spPr>
        <p:txBody>
          <a:bodyPr wrap="square" lIns="0" tIns="0" rIns="0" bIns="0" rtlCol="0" anchor="ctr"/>
          <a:lstStyle/>
          <a:p>
            <a:pPr indent="0" marL="0">
              <a:buNone/>
            </a:pPr>
            <a:r>
              <a:rPr lang="en-US" sz="1200" b="1" spc="140" kern="0" dirty="0">
                <a:solidFill>
                  <a:srgbClr val="B2622D"/>
                </a:solidFill>
                <a:latin typeface="Calibri" pitchFamily="34" charset="0"/>
                <a:ea typeface="Calibri" pitchFamily="34" charset="-122"/>
                <a:cs typeface="Calibri" pitchFamily="34" charset="-120"/>
              </a:rPr>
              <a:t>PER BRICK</a:t>
            </a:r>
            <a:endParaRPr lang="en-US" sz="1200" dirty="0"/>
          </a:p>
        </p:txBody>
      </p:sp>
      <p:sp>
        <p:nvSpPr>
          <p:cNvPr id="6" name="Text 4"/>
          <p:cNvSpPr txBox="1"/>
          <p:nvPr/>
        </p:nvSpPr>
        <p:spPr>
          <a:xfrm>
            <a:off x="566928" y="2423160"/>
            <a:ext cx="5760720" cy="914400"/>
          </a:xfrm>
          <a:prstGeom prst="rect">
            <a:avLst/>
          </a:prstGeom>
          <a:noFill/>
          <a:ln/>
        </p:spPr>
        <p:txBody>
          <a:bodyPr wrap="square" lIns="0" tIns="0" rIns="0" bIns="0" rtlCol="0" anchor="ctr"/>
          <a:lstStyle/>
          <a:p>
            <a:pPr indent="0" marL="0">
              <a:lnSpc>
                <a:spcPts val="2300"/>
              </a:lnSpc>
              <a:buNone/>
            </a:pPr>
            <a:r>
              <a:rPr lang="en-US" sz="1550" dirty="0">
                <a:solidFill>
                  <a:srgbClr val="2E2B25"/>
                </a:solidFill>
                <a:latin typeface="Calibri" pitchFamily="34" charset="0"/>
                <a:ea typeface="Calibri" pitchFamily="34" charset="-122"/>
                <a:cs typeface="Calibri" pitchFamily="34" charset="-120"/>
              </a:rPr>
              <a:t>Planned as packs of seven — a week of snacks for $14.00. No subscription, no freezer space, no leftovers to scrape.</a:t>
            </a:r>
            <a:endParaRPr lang="en-US" sz="1550" dirty="0"/>
          </a:p>
        </p:txBody>
      </p:sp>
      <p:sp>
        <p:nvSpPr>
          <p:cNvPr id="7" name="Shape 5"/>
          <p:cNvSpPr/>
          <p:nvPr/>
        </p:nvSpPr>
        <p:spPr>
          <a:xfrm>
            <a:off x="566928" y="3657600"/>
            <a:ext cx="5760720" cy="1920240"/>
          </a:xfrm>
          <a:prstGeom prst="roundRect">
            <a:avLst>
              <a:gd name="adj" fmla="val 8571"/>
            </a:avLst>
          </a:prstGeom>
          <a:solidFill>
            <a:srgbClr val="728157"/>
          </a:solidFill>
          <a:ln w="31750">
            <a:solidFill>
              <a:srgbClr val="728157"/>
            </a:solidFill>
            <a:prstDash val="solid"/>
          </a:ln>
          <a:effectLst>
            <a:outerShdw sx="100000" sy="100000" kx="0" ky="0" algn="bl" rotWithShape="0" blurRad="101600" dist="63500" dir="2700000">
              <a:srgbClr val="402310">
                <a:alpha val="100000"/>
              </a:srgbClr>
            </a:outerShdw>
          </a:effectLst>
        </p:spPr>
      </p:sp>
      <p:sp>
        <p:nvSpPr>
          <p:cNvPr id="8" name="Text 6"/>
          <p:cNvSpPr txBox="1"/>
          <p:nvPr/>
        </p:nvSpPr>
        <p:spPr>
          <a:xfrm>
            <a:off x="932688" y="3950208"/>
            <a:ext cx="4937760" cy="822960"/>
          </a:xfrm>
          <a:prstGeom prst="rect">
            <a:avLst/>
          </a:prstGeom>
          <a:noFill/>
          <a:ln/>
        </p:spPr>
        <p:txBody>
          <a:bodyPr wrap="square" lIns="0" tIns="0" rIns="0" bIns="0" rtlCol="0" anchor="ctr"/>
          <a:lstStyle/>
          <a:p>
            <a:pPr indent="0" marL="0">
              <a:lnSpc>
                <a:spcPts val="2500"/>
              </a:lnSpc>
              <a:buNone/>
            </a:pPr>
            <a:r>
              <a:rPr lang="en-US" sz="1900" b="1" dirty="0">
                <a:solidFill>
                  <a:srgbClr val="F9F4ED"/>
                </a:solidFill>
                <a:latin typeface="Bookman Old Style" pitchFamily="34" charset="0"/>
                <a:ea typeface="Bookman Old Style" pitchFamily="34" charset="-122"/>
                <a:cs typeface="Bookman Old Style" pitchFamily="34" charset="-120"/>
              </a:rPr>
              <a:t>Every pack also comes with plans for a new build</a:t>
            </a:r>
            <a:endParaRPr lang="en-US" sz="1900" dirty="0"/>
          </a:p>
        </p:txBody>
      </p:sp>
      <p:sp>
        <p:nvSpPr>
          <p:cNvPr id="9" name="Text 7"/>
          <p:cNvSpPr txBox="1"/>
          <p:nvPr/>
        </p:nvSpPr>
        <p:spPr>
          <a:xfrm>
            <a:off x="932688" y="4828032"/>
            <a:ext cx="4937760" cy="640080"/>
          </a:xfrm>
          <a:prstGeom prst="rect">
            <a:avLst/>
          </a:prstGeom>
          <a:noFill/>
          <a:ln/>
        </p:spPr>
        <p:txBody>
          <a:bodyPr wrap="square" lIns="0" tIns="0" rIns="0" bIns="0" rtlCol="0" anchor="ctr"/>
          <a:lstStyle/>
          <a:p>
            <a:pPr indent="0" marL="0">
              <a:lnSpc>
                <a:spcPts val="2000"/>
              </a:lnSpc>
              <a:buNone/>
            </a:pPr>
            <a:r>
              <a:rPr lang="en-US" sz="1400" dirty="0">
                <a:solidFill>
                  <a:srgbClr val="F0FAE1"/>
                </a:solidFill>
                <a:latin typeface="Calibri" pitchFamily="34" charset="0"/>
                <a:ea typeface="Calibri" pitchFamily="34" charset="-122"/>
                <a:cs typeface="Calibri" pitchFamily="34" charset="-120"/>
              </a:rPr>
              <a:t>A different design each time — so seven bricks are never just seven snacks.</a:t>
            </a:r>
            <a:endParaRPr lang="en-US" sz="1400" dirty="0"/>
          </a:p>
        </p:txBody>
      </p:sp>
      <p:sp>
        <p:nvSpPr>
          <p:cNvPr id="10" name="Shape 8"/>
          <p:cNvSpPr/>
          <p:nvPr/>
        </p:nvSpPr>
        <p:spPr>
          <a:xfrm>
            <a:off x="6858000" y="1051560"/>
            <a:ext cx="4754880" cy="4526280"/>
          </a:xfrm>
          <a:prstGeom prst="roundRect">
            <a:avLst>
              <a:gd name="adj" fmla="val 3636"/>
            </a:avLst>
          </a:prstGeom>
          <a:solidFill>
            <a:srgbClr val="FFF2EB"/>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11" name="Text 9"/>
          <p:cNvSpPr txBox="1"/>
          <p:nvPr/>
        </p:nvSpPr>
        <p:spPr>
          <a:xfrm>
            <a:off x="7178040" y="1371600"/>
            <a:ext cx="4114800" cy="320040"/>
          </a:xfrm>
          <a:prstGeom prst="rect">
            <a:avLst/>
          </a:prstGeom>
          <a:noFill/>
          <a:ln/>
        </p:spPr>
        <p:txBody>
          <a:bodyPr wrap="square" lIns="0" tIns="0" rIns="0" bIns="0" rtlCol="0" anchor="ctr"/>
          <a:lstStyle/>
          <a:p>
            <a:pPr indent="0" marL="0">
              <a:buNone/>
            </a:pPr>
            <a:r>
              <a:rPr lang="en-US" sz="1100" b="1" spc="120" kern="0" dirty="0">
                <a:solidFill>
                  <a:srgbClr val="B2622D"/>
                </a:solidFill>
                <a:latin typeface="Calibri" pitchFamily="34" charset="0"/>
                <a:ea typeface="Calibri" pitchFamily="34" charset="-122"/>
                <a:cs typeface="Calibri" pitchFamily="34" charset="-120"/>
              </a:rPr>
              <a:t>ONE BRICK A DAY, PACK OF SEVEN</a:t>
            </a:r>
            <a:endParaRPr lang="en-US" sz="1100" dirty="0"/>
          </a:p>
        </p:txBody>
      </p:sp>
      <p:sp>
        <p:nvSpPr>
          <p:cNvPr id="12" name="Shape 10"/>
          <p:cNvSpPr/>
          <p:nvPr/>
        </p:nvSpPr>
        <p:spPr>
          <a:xfrm>
            <a:off x="7269480" y="1965960"/>
            <a:ext cx="914400" cy="1097280"/>
          </a:xfrm>
          <a:prstGeom prst="roundRect">
            <a:avLst>
              <a:gd name="adj" fmla="val 18000"/>
            </a:avLst>
          </a:prstGeom>
          <a:solidFill>
            <a:srgbClr val="643312"/>
          </a:solidFill>
          <a:ln w="25400">
            <a:solidFill>
              <a:srgbClr val="402310"/>
            </a:solidFill>
            <a:prstDash val="solid"/>
          </a:ln>
        </p:spPr>
      </p:sp>
      <p:sp>
        <p:nvSpPr>
          <p:cNvPr id="13" name="Shape 11"/>
          <p:cNvSpPr/>
          <p:nvPr/>
        </p:nvSpPr>
        <p:spPr>
          <a:xfrm>
            <a:off x="7488936" y="2130552"/>
            <a:ext cx="164592" cy="164592"/>
          </a:xfrm>
          <a:prstGeom prst="ellipse">
            <a:avLst/>
          </a:prstGeom>
          <a:solidFill>
            <a:srgbClr val="F6A06B"/>
          </a:solidFill>
          <a:ln w="12700">
            <a:solidFill>
              <a:srgbClr val="333333"/>
            </a:solidFill>
            <a:prstDash val="solid"/>
          </a:ln>
        </p:spPr>
      </p:sp>
      <p:sp>
        <p:nvSpPr>
          <p:cNvPr id="14" name="Shape 12"/>
          <p:cNvSpPr/>
          <p:nvPr/>
        </p:nvSpPr>
        <p:spPr>
          <a:xfrm>
            <a:off x="7781544" y="2130552"/>
            <a:ext cx="164592" cy="164592"/>
          </a:xfrm>
          <a:prstGeom prst="ellipse">
            <a:avLst/>
          </a:prstGeom>
          <a:solidFill>
            <a:srgbClr val="F6A06B"/>
          </a:solidFill>
          <a:ln w="12700">
            <a:solidFill>
              <a:srgbClr val="333333"/>
            </a:solidFill>
            <a:prstDash val="solid"/>
          </a:ln>
        </p:spPr>
      </p:sp>
      <p:sp>
        <p:nvSpPr>
          <p:cNvPr id="15" name="Text 13"/>
          <p:cNvSpPr txBox="1"/>
          <p:nvPr/>
        </p:nvSpPr>
        <p:spPr>
          <a:xfrm>
            <a:off x="7269480" y="2514600"/>
            <a:ext cx="914400" cy="365760"/>
          </a:xfrm>
          <a:prstGeom prst="rect">
            <a:avLst/>
          </a:prstGeom>
          <a:noFill/>
          <a:ln/>
        </p:spPr>
        <p:txBody>
          <a:bodyPr wrap="square" lIns="0" tIns="0" rIns="0" bIns="0" rtlCol="0" anchor="ctr"/>
          <a:lstStyle/>
          <a:p>
            <a:pPr algn="ctr" indent="0" marL="0">
              <a:buNone/>
            </a:pPr>
            <a:r>
              <a:rPr lang="en-US" sz="1050" b="1" dirty="0">
                <a:solidFill>
                  <a:srgbClr val="FFE1D0"/>
                </a:solidFill>
                <a:latin typeface="Calibri" pitchFamily="34" charset="0"/>
                <a:ea typeface="Calibri" pitchFamily="34" charset="-122"/>
                <a:cs typeface="Calibri" pitchFamily="34" charset="-120"/>
              </a:rPr>
              <a:t>MON</a:t>
            </a:r>
            <a:endParaRPr lang="en-US" sz="1050" dirty="0"/>
          </a:p>
        </p:txBody>
      </p:sp>
      <p:sp>
        <p:nvSpPr>
          <p:cNvPr id="16" name="Shape 14"/>
          <p:cNvSpPr/>
          <p:nvPr/>
        </p:nvSpPr>
        <p:spPr>
          <a:xfrm>
            <a:off x="8366760" y="1965960"/>
            <a:ext cx="914400" cy="1097280"/>
          </a:xfrm>
          <a:prstGeom prst="roundRect">
            <a:avLst>
              <a:gd name="adj" fmla="val 18000"/>
            </a:avLst>
          </a:prstGeom>
          <a:solidFill>
            <a:srgbClr val="643312"/>
          </a:solidFill>
          <a:ln w="25400">
            <a:solidFill>
              <a:srgbClr val="402310"/>
            </a:solidFill>
            <a:prstDash val="solid"/>
          </a:ln>
        </p:spPr>
      </p:sp>
      <p:sp>
        <p:nvSpPr>
          <p:cNvPr id="17" name="Shape 15"/>
          <p:cNvSpPr/>
          <p:nvPr/>
        </p:nvSpPr>
        <p:spPr>
          <a:xfrm>
            <a:off x="8586216" y="2130552"/>
            <a:ext cx="164592" cy="164592"/>
          </a:xfrm>
          <a:prstGeom prst="ellipse">
            <a:avLst/>
          </a:prstGeom>
          <a:solidFill>
            <a:srgbClr val="F6A06B"/>
          </a:solidFill>
          <a:ln w="12700">
            <a:solidFill>
              <a:srgbClr val="333333"/>
            </a:solidFill>
            <a:prstDash val="solid"/>
          </a:ln>
        </p:spPr>
      </p:sp>
      <p:sp>
        <p:nvSpPr>
          <p:cNvPr id="18" name="Shape 16"/>
          <p:cNvSpPr/>
          <p:nvPr/>
        </p:nvSpPr>
        <p:spPr>
          <a:xfrm>
            <a:off x="8878824" y="2130552"/>
            <a:ext cx="164592" cy="164592"/>
          </a:xfrm>
          <a:prstGeom prst="ellipse">
            <a:avLst/>
          </a:prstGeom>
          <a:solidFill>
            <a:srgbClr val="F6A06B"/>
          </a:solidFill>
          <a:ln w="12700">
            <a:solidFill>
              <a:srgbClr val="333333"/>
            </a:solidFill>
            <a:prstDash val="solid"/>
          </a:ln>
        </p:spPr>
      </p:sp>
      <p:sp>
        <p:nvSpPr>
          <p:cNvPr id="19" name="Text 17"/>
          <p:cNvSpPr txBox="1"/>
          <p:nvPr/>
        </p:nvSpPr>
        <p:spPr>
          <a:xfrm>
            <a:off x="8366760" y="2514600"/>
            <a:ext cx="914400" cy="365760"/>
          </a:xfrm>
          <a:prstGeom prst="rect">
            <a:avLst/>
          </a:prstGeom>
          <a:noFill/>
          <a:ln/>
        </p:spPr>
        <p:txBody>
          <a:bodyPr wrap="square" lIns="0" tIns="0" rIns="0" bIns="0" rtlCol="0" anchor="ctr"/>
          <a:lstStyle/>
          <a:p>
            <a:pPr algn="ctr" indent="0" marL="0">
              <a:buNone/>
            </a:pPr>
            <a:r>
              <a:rPr lang="en-US" sz="1050" b="1" dirty="0">
                <a:solidFill>
                  <a:srgbClr val="FFE1D0"/>
                </a:solidFill>
                <a:latin typeface="Calibri" pitchFamily="34" charset="0"/>
                <a:ea typeface="Calibri" pitchFamily="34" charset="-122"/>
                <a:cs typeface="Calibri" pitchFamily="34" charset="-120"/>
              </a:rPr>
              <a:t>TUE</a:t>
            </a:r>
            <a:endParaRPr lang="en-US" sz="1050" dirty="0"/>
          </a:p>
        </p:txBody>
      </p:sp>
      <p:sp>
        <p:nvSpPr>
          <p:cNvPr id="20" name="Shape 18"/>
          <p:cNvSpPr/>
          <p:nvPr/>
        </p:nvSpPr>
        <p:spPr>
          <a:xfrm>
            <a:off x="9464040" y="1965960"/>
            <a:ext cx="914400" cy="1097280"/>
          </a:xfrm>
          <a:prstGeom prst="roundRect">
            <a:avLst>
              <a:gd name="adj" fmla="val 18000"/>
            </a:avLst>
          </a:prstGeom>
          <a:solidFill>
            <a:srgbClr val="643312"/>
          </a:solidFill>
          <a:ln w="25400">
            <a:solidFill>
              <a:srgbClr val="402310"/>
            </a:solidFill>
            <a:prstDash val="solid"/>
          </a:ln>
        </p:spPr>
      </p:sp>
      <p:sp>
        <p:nvSpPr>
          <p:cNvPr id="21" name="Shape 19"/>
          <p:cNvSpPr/>
          <p:nvPr/>
        </p:nvSpPr>
        <p:spPr>
          <a:xfrm>
            <a:off x="9683496" y="2130552"/>
            <a:ext cx="164592" cy="164592"/>
          </a:xfrm>
          <a:prstGeom prst="ellipse">
            <a:avLst/>
          </a:prstGeom>
          <a:solidFill>
            <a:srgbClr val="F6A06B"/>
          </a:solidFill>
          <a:ln w="12700">
            <a:solidFill>
              <a:srgbClr val="333333"/>
            </a:solidFill>
            <a:prstDash val="solid"/>
          </a:ln>
        </p:spPr>
      </p:sp>
      <p:sp>
        <p:nvSpPr>
          <p:cNvPr id="22" name="Shape 20"/>
          <p:cNvSpPr/>
          <p:nvPr/>
        </p:nvSpPr>
        <p:spPr>
          <a:xfrm>
            <a:off x="9976104" y="2130552"/>
            <a:ext cx="164592" cy="164592"/>
          </a:xfrm>
          <a:prstGeom prst="ellipse">
            <a:avLst/>
          </a:prstGeom>
          <a:solidFill>
            <a:srgbClr val="F6A06B"/>
          </a:solidFill>
          <a:ln w="12700">
            <a:solidFill>
              <a:srgbClr val="333333"/>
            </a:solidFill>
            <a:prstDash val="solid"/>
          </a:ln>
        </p:spPr>
      </p:sp>
      <p:sp>
        <p:nvSpPr>
          <p:cNvPr id="23" name="Text 21"/>
          <p:cNvSpPr txBox="1"/>
          <p:nvPr/>
        </p:nvSpPr>
        <p:spPr>
          <a:xfrm>
            <a:off x="9464040" y="2514600"/>
            <a:ext cx="914400" cy="365760"/>
          </a:xfrm>
          <a:prstGeom prst="rect">
            <a:avLst/>
          </a:prstGeom>
          <a:noFill/>
          <a:ln/>
        </p:spPr>
        <p:txBody>
          <a:bodyPr wrap="square" lIns="0" tIns="0" rIns="0" bIns="0" rtlCol="0" anchor="ctr"/>
          <a:lstStyle/>
          <a:p>
            <a:pPr algn="ctr" indent="0" marL="0">
              <a:buNone/>
            </a:pPr>
            <a:r>
              <a:rPr lang="en-US" sz="1050" b="1" dirty="0">
                <a:solidFill>
                  <a:srgbClr val="FFE1D0"/>
                </a:solidFill>
                <a:latin typeface="Calibri" pitchFamily="34" charset="0"/>
                <a:ea typeface="Calibri" pitchFamily="34" charset="-122"/>
                <a:cs typeface="Calibri" pitchFamily="34" charset="-120"/>
              </a:rPr>
              <a:t>WED</a:t>
            </a:r>
            <a:endParaRPr lang="en-US" sz="1050" dirty="0"/>
          </a:p>
        </p:txBody>
      </p:sp>
      <p:sp>
        <p:nvSpPr>
          <p:cNvPr id="24" name="Shape 22"/>
          <p:cNvSpPr/>
          <p:nvPr/>
        </p:nvSpPr>
        <p:spPr>
          <a:xfrm>
            <a:off x="10561320" y="1965960"/>
            <a:ext cx="914400" cy="1097280"/>
          </a:xfrm>
          <a:prstGeom prst="roundRect">
            <a:avLst>
              <a:gd name="adj" fmla="val 18000"/>
            </a:avLst>
          </a:prstGeom>
          <a:solidFill>
            <a:srgbClr val="643312"/>
          </a:solidFill>
          <a:ln w="25400">
            <a:solidFill>
              <a:srgbClr val="402310"/>
            </a:solidFill>
            <a:prstDash val="solid"/>
          </a:ln>
        </p:spPr>
      </p:sp>
      <p:sp>
        <p:nvSpPr>
          <p:cNvPr id="25" name="Shape 23"/>
          <p:cNvSpPr/>
          <p:nvPr/>
        </p:nvSpPr>
        <p:spPr>
          <a:xfrm>
            <a:off x="10780776" y="2130552"/>
            <a:ext cx="164592" cy="164592"/>
          </a:xfrm>
          <a:prstGeom prst="ellipse">
            <a:avLst/>
          </a:prstGeom>
          <a:solidFill>
            <a:srgbClr val="F6A06B"/>
          </a:solidFill>
          <a:ln w="12700">
            <a:solidFill>
              <a:srgbClr val="333333"/>
            </a:solidFill>
            <a:prstDash val="solid"/>
          </a:ln>
        </p:spPr>
      </p:sp>
      <p:sp>
        <p:nvSpPr>
          <p:cNvPr id="26" name="Shape 24"/>
          <p:cNvSpPr/>
          <p:nvPr/>
        </p:nvSpPr>
        <p:spPr>
          <a:xfrm>
            <a:off x="11073384" y="2130552"/>
            <a:ext cx="164592" cy="164592"/>
          </a:xfrm>
          <a:prstGeom prst="ellipse">
            <a:avLst/>
          </a:prstGeom>
          <a:solidFill>
            <a:srgbClr val="F6A06B"/>
          </a:solidFill>
          <a:ln w="12700">
            <a:solidFill>
              <a:srgbClr val="333333"/>
            </a:solidFill>
            <a:prstDash val="solid"/>
          </a:ln>
        </p:spPr>
      </p:sp>
      <p:sp>
        <p:nvSpPr>
          <p:cNvPr id="27" name="Text 25"/>
          <p:cNvSpPr txBox="1"/>
          <p:nvPr/>
        </p:nvSpPr>
        <p:spPr>
          <a:xfrm>
            <a:off x="10561320" y="2514600"/>
            <a:ext cx="914400" cy="365760"/>
          </a:xfrm>
          <a:prstGeom prst="rect">
            <a:avLst/>
          </a:prstGeom>
          <a:noFill/>
          <a:ln/>
        </p:spPr>
        <p:txBody>
          <a:bodyPr wrap="square" lIns="0" tIns="0" rIns="0" bIns="0" rtlCol="0" anchor="ctr"/>
          <a:lstStyle/>
          <a:p>
            <a:pPr algn="ctr" indent="0" marL="0">
              <a:buNone/>
            </a:pPr>
            <a:r>
              <a:rPr lang="en-US" sz="1050" b="1" dirty="0">
                <a:solidFill>
                  <a:srgbClr val="FFE1D0"/>
                </a:solidFill>
                <a:latin typeface="Calibri" pitchFamily="34" charset="0"/>
                <a:ea typeface="Calibri" pitchFamily="34" charset="-122"/>
                <a:cs typeface="Calibri" pitchFamily="34" charset="-120"/>
              </a:rPr>
              <a:t>THU</a:t>
            </a:r>
            <a:endParaRPr lang="en-US" sz="1050" dirty="0"/>
          </a:p>
        </p:txBody>
      </p:sp>
      <p:sp>
        <p:nvSpPr>
          <p:cNvPr id="28" name="Shape 26"/>
          <p:cNvSpPr/>
          <p:nvPr/>
        </p:nvSpPr>
        <p:spPr>
          <a:xfrm>
            <a:off x="7818120" y="3246120"/>
            <a:ext cx="914400" cy="1097280"/>
          </a:xfrm>
          <a:prstGeom prst="roundRect">
            <a:avLst>
              <a:gd name="adj" fmla="val 18000"/>
            </a:avLst>
          </a:prstGeom>
          <a:solidFill>
            <a:srgbClr val="643312"/>
          </a:solidFill>
          <a:ln w="25400">
            <a:solidFill>
              <a:srgbClr val="402310"/>
            </a:solidFill>
            <a:prstDash val="solid"/>
          </a:ln>
        </p:spPr>
      </p:sp>
      <p:sp>
        <p:nvSpPr>
          <p:cNvPr id="29" name="Shape 27"/>
          <p:cNvSpPr/>
          <p:nvPr/>
        </p:nvSpPr>
        <p:spPr>
          <a:xfrm>
            <a:off x="8037576" y="3410712"/>
            <a:ext cx="164592" cy="164592"/>
          </a:xfrm>
          <a:prstGeom prst="ellipse">
            <a:avLst/>
          </a:prstGeom>
          <a:solidFill>
            <a:srgbClr val="F6A06B"/>
          </a:solidFill>
          <a:ln w="12700">
            <a:solidFill>
              <a:srgbClr val="333333"/>
            </a:solidFill>
            <a:prstDash val="solid"/>
          </a:ln>
        </p:spPr>
      </p:sp>
      <p:sp>
        <p:nvSpPr>
          <p:cNvPr id="30" name="Shape 28"/>
          <p:cNvSpPr/>
          <p:nvPr/>
        </p:nvSpPr>
        <p:spPr>
          <a:xfrm>
            <a:off x="8330184" y="3410712"/>
            <a:ext cx="164592" cy="164592"/>
          </a:xfrm>
          <a:prstGeom prst="ellipse">
            <a:avLst/>
          </a:prstGeom>
          <a:solidFill>
            <a:srgbClr val="F6A06B"/>
          </a:solidFill>
          <a:ln w="12700">
            <a:solidFill>
              <a:srgbClr val="333333"/>
            </a:solidFill>
            <a:prstDash val="solid"/>
          </a:ln>
        </p:spPr>
      </p:sp>
      <p:sp>
        <p:nvSpPr>
          <p:cNvPr id="31" name="Text 29"/>
          <p:cNvSpPr txBox="1"/>
          <p:nvPr/>
        </p:nvSpPr>
        <p:spPr>
          <a:xfrm>
            <a:off x="7818120" y="3794760"/>
            <a:ext cx="914400" cy="365760"/>
          </a:xfrm>
          <a:prstGeom prst="rect">
            <a:avLst/>
          </a:prstGeom>
          <a:noFill/>
          <a:ln/>
        </p:spPr>
        <p:txBody>
          <a:bodyPr wrap="square" lIns="0" tIns="0" rIns="0" bIns="0" rtlCol="0" anchor="ctr"/>
          <a:lstStyle/>
          <a:p>
            <a:pPr algn="ctr" indent="0" marL="0">
              <a:buNone/>
            </a:pPr>
            <a:r>
              <a:rPr lang="en-US" sz="1050" b="1" dirty="0">
                <a:solidFill>
                  <a:srgbClr val="FFE1D0"/>
                </a:solidFill>
                <a:latin typeface="Calibri" pitchFamily="34" charset="0"/>
                <a:ea typeface="Calibri" pitchFamily="34" charset="-122"/>
                <a:cs typeface="Calibri" pitchFamily="34" charset="-120"/>
              </a:rPr>
              <a:t>FRI</a:t>
            </a:r>
            <a:endParaRPr lang="en-US" sz="1050" dirty="0"/>
          </a:p>
        </p:txBody>
      </p:sp>
      <p:sp>
        <p:nvSpPr>
          <p:cNvPr id="32" name="Shape 30"/>
          <p:cNvSpPr/>
          <p:nvPr/>
        </p:nvSpPr>
        <p:spPr>
          <a:xfrm>
            <a:off x="8915400" y="3246120"/>
            <a:ext cx="914400" cy="1097280"/>
          </a:xfrm>
          <a:prstGeom prst="roundRect">
            <a:avLst>
              <a:gd name="adj" fmla="val 18000"/>
            </a:avLst>
          </a:prstGeom>
          <a:solidFill>
            <a:srgbClr val="643312"/>
          </a:solidFill>
          <a:ln w="25400">
            <a:solidFill>
              <a:srgbClr val="402310"/>
            </a:solidFill>
            <a:prstDash val="solid"/>
          </a:ln>
        </p:spPr>
      </p:sp>
      <p:sp>
        <p:nvSpPr>
          <p:cNvPr id="33" name="Shape 31"/>
          <p:cNvSpPr/>
          <p:nvPr/>
        </p:nvSpPr>
        <p:spPr>
          <a:xfrm>
            <a:off x="9134856" y="3410712"/>
            <a:ext cx="164592" cy="164592"/>
          </a:xfrm>
          <a:prstGeom prst="ellipse">
            <a:avLst/>
          </a:prstGeom>
          <a:solidFill>
            <a:srgbClr val="F6A06B"/>
          </a:solidFill>
          <a:ln w="12700">
            <a:solidFill>
              <a:srgbClr val="333333"/>
            </a:solidFill>
            <a:prstDash val="solid"/>
          </a:ln>
        </p:spPr>
      </p:sp>
      <p:sp>
        <p:nvSpPr>
          <p:cNvPr id="34" name="Shape 32"/>
          <p:cNvSpPr/>
          <p:nvPr/>
        </p:nvSpPr>
        <p:spPr>
          <a:xfrm>
            <a:off x="9427464" y="3410712"/>
            <a:ext cx="164592" cy="164592"/>
          </a:xfrm>
          <a:prstGeom prst="ellipse">
            <a:avLst/>
          </a:prstGeom>
          <a:solidFill>
            <a:srgbClr val="F6A06B"/>
          </a:solidFill>
          <a:ln w="12700">
            <a:solidFill>
              <a:srgbClr val="333333"/>
            </a:solidFill>
            <a:prstDash val="solid"/>
          </a:ln>
        </p:spPr>
      </p:sp>
      <p:sp>
        <p:nvSpPr>
          <p:cNvPr id="35" name="Text 33"/>
          <p:cNvSpPr txBox="1"/>
          <p:nvPr/>
        </p:nvSpPr>
        <p:spPr>
          <a:xfrm>
            <a:off x="8915400" y="3794760"/>
            <a:ext cx="914400" cy="365760"/>
          </a:xfrm>
          <a:prstGeom prst="rect">
            <a:avLst/>
          </a:prstGeom>
          <a:noFill/>
          <a:ln/>
        </p:spPr>
        <p:txBody>
          <a:bodyPr wrap="square" lIns="0" tIns="0" rIns="0" bIns="0" rtlCol="0" anchor="ctr"/>
          <a:lstStyle/>
          <a:p>
            <a:pPr algn="ctr" indent="0" marL="0">
              <a:buNone/>
            </a:pPr>
            <a:r>
              <a:rPr lang="en-US" sz="1050" b="1" dirty="0">
                <a:solidFill>
                  <a:srgbClr val="FFE1D0"/>
                </a:solidFill>
                <a:latin typeface="Calibri" pitchFamily="34" charset="0"/>
                <a:ea typeface="Calibri" pitchFamily="34" charset="-122"/>
                <a:cs typeface="Calibri" pitchFamily="34" charset="-120"/>
              </a:rPr>
              <a:t>SAT</a:t>
            </a:r>
            <a:endParaRPr lang="en-US" sz="1050" dirty="0"/>
          </a:p>
        </p:txBody>
      </p:sp>
      <p:sp>
        <p:nvSpPr>
          <p:cNvPr id="36" name="Shape 34"/>
          <p:cNvSpPr/>
          <p:nvPr/>
        </p:nvSpPr>
        <p:spPr>
          <a:xfrm>
            <a:off x="10012680" y="3246120"/>
            <a:ext cx="914400" cy="1097280"/>
          </a:xfrm>
          <a:prstGeom prst="roundRect">
            <a:avLst>
              <a:gd name="adj" fmla="val 18000"/>
            </a:avLst>
          </a:prstGeom>
          <a:solidFill>
            <a:srgbClr val="643312"/>
          </a:solidFill>
          <a:ln w="25400">
            <a:solidFill>
              <a:srgbClr val="402310"/>
            </a:solidFill>
            <a:prstDash val="solid"/>
          </a:ln>
        </p:spPr>
      </p:sp>
      <p:sp>
        <p:nvSpPr>
          <p:cNvPr id="37" name="Shape 35"/>
          <p:cNvSpPr/>
          <p:nvPr/>
        </p:nvSpPr>
        <p:spPr>
          <a:xfrm>
            <a:off x="10232136" y="3410712"/>
            <a:ext cx="164592" cy="164592"/>
          </a:xfrm>
          <a:prstGeom prst="ellipse">
            <a:avLst/>
          </a:prstGeom>
          <a:solidFill>
            <a:srgbClr val="F6A06B"/>
          </a:solidFill>
          <a:ln w="12700">
            <a:solidFill>
              <a:srgbClr val="333333"/>
            </a:solidFill>
            <a:prstDash val="solid"/>
          </a:ln>
        </p:spPr>
      </p:sp>
      <p:sp>
        <p:nvSpPr>
          <p:cNvPr id="38" name="Shape 36"/>
          <p:cNvSpPr/>
          <p:nvPr/>
        </p:nvSpPr>
        <p:spPr>
          <a:xfrm>
            <a:off x="10524744" y="3410712"/>
            <a:ext cx="164592" cy="164592"/>
          </a:xfrm>
          <a:prstGeom prst="ellipse">
            <a:avLst/>
          </a:prstGeom>
          <a:solidFill>
            <a:srgbClr val="F6A06B"/>
          </a:solidFill>
          <a:ln w="12700">
            <a:solidFill>
              <a:srgbClr val="333333"/>
            </a:solidFill>
            <a:prstDash val="solid"/>
          </a:ln>
        </p:spPr>
      </p:sp>
      <p:sp>
        <p:nvSpPr>
          <p:cNvPr id="39" name="Text 37"/>
          <p:cNvSpPr txBox="1"/>
          <p:nvPr/>
        </p:nvSpPr>
        <p:spPr>
          <a:xfrm>
            <a:off x="10012680" y="3794760"/>
            <a:ext cx="914400" cy="365760"/>
          </a:xfrm>
          <a:prstGeom prst="rect">
            <a:avLst/>
          </a:prstGeom>
          <a:noFill/>
          <a:ln/>
        </p:spPr>
        <p:txBody>
          <a:bodyPr wrap="square" lIns="0" tIns="0" rIns="0" bIns="0" rtlCol="0" anchor="ctr"/>
          <a:lstStyle/>
          <a:p>
            <a:pPr algn="ctr" indent="0" marL="0">
              <a:buNone/>
            </a:pPr>
            <a:r>
              <a:rPr lang="en-US" sz="1050" b="1" dirty="0">
                <a:solidFill>
                  <a:srgbClr val="FFE1D0"/>
                </a:solidFill>
                <a:latin typeface="Calibri" pitchFamily="34" charset="0"/>
                <a:ea typeface="Calibri" pitchFamily="34" charset="-122"/>
                <a:cs typeface="Calibri" pitchFamily="34" charset="-120"/>
              </a:rPr>
              <a:t>SUN</a:t>
            </a:r>
            <a:endParaRPr lang="en-US" sz="1050" dirty="0"/>
          </a:p>
        </p:txBody>
      </p:sp>
      <p:sp>
        <p:nvSpPr>
          <p:cNvPr id="40" name="Text 38"/>
          <p:cNvSpPr txBox="1"/>
          <p:nvPr/>
        </p:nvSpPr>
        <p:spPr>
          <a:xfrm>
            <a:off x="7178040" y="4846320"/>
            <a:ext cx="4114800" cy="320040"/>
          </a:xfrm>
          <a:prstGeom prst="rect">
            <a:avLst/>
          </a:prstGeom>
          <a:noFill/>
          <a:ln/>
        </p:spPr>
        <p:txBody>
          <a:bodyPr wrap="square" lIns="0" tIns="0" rIns="0" bIns="0" rtlCol="0" anchor="ctr"/>
          <a:lstStyle/>
          <a:p>
            <a:pPr indent="0" marL="0">
              <a:buNone/>
            </a:pPr>
            <a:r>
              <a:rPr lang="en-US" sz="1150" b="1" spc="100" kern="0" dirty="0">
                <a:solidFill>
                  <a:srgbClr val="B2622D"/>
                </a:solidFill>
                <a:latin typeface="Calibri" pitchFamily="34" charset="0"/>
                <a:ea typeface="Calibri" pitchFamily="34" charset="-122"/>
                <a:cs typeface="Calibri" pitchFamily="34" charset="-120"/>
              </a:rPr>
              <a:t>Plus plans for one new build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AD8"/>
        </a:solidFill>
      </p:bgPr>
    </p:bg>
    <p:spTree>
      <p:nvGrpSpPr>
        <p:cNvPr id="1" name=""/>
        <p:cNvGrpSpPr/>
        <p:nvPr/>
      </p:nvGrpSpPr>
      <p:grpSpPr>
        <a:xfrm>
          <a:off x="0" y="0"/>
          <a:ext cx="0" cy="0"/>
          <a:chOff x="0" y="0"/>
          <a:chExt cx="0" cy="0"/>
        </a:xfrm>
      </p:grpSpPr>
      <p:sp>
        <p:nvSpPr>
          <p:cNvPr id="2" name="Shape 0"/>
          <p:cNvSpPr/>
          <p:nvPr/>
        </p:nvSpPr>
        <p:spPr>
          <a:xfrm>
            <a:off x="566928" y="566928"/>
            <a:ext cx="2743200" cy="384048"/>
          </a:xfrm>
          <a:prstGeom prst="roundRect">
            <a:avLst>
              <a:gd name="adj" fmla="val 119048"/>
            </a:avLst>
          </a:prstGeom>
          <a:solidFill>
            <a:srgbClr val="402310"/>
          </a:solidFill>
          <a:ln w="25400">
            <a:solidFill>
              <a:srgbClr val="402310"/>
            </a:solidFill>
            <a:prstDash val="solid"/>
          </a:ln>
        </p:spPr>
      </p:sp>
      <p:sp>
        <p:nvSpPr>
          <p:cNvPr id="3" name="Text 1"/>
          <p:cNvSpPr txBox="1"/>
          <p:nvPr/>
        </p:nvSpPr>
        <p:spPr>
          <a:xfrm>
            <a:off x="566928" y="566928"/>
            <a:ext cx="2743200" cy="384048"/>
          </a:xfrm>
          <a:prstGeom prst="rect">
            <a:avLst/>
          </a:prstGeom>
          <a:noFill/>
          <a:ln/>
        </p:spPr>
        <p:txBody>
          <a:bodyPr wrap="square" lIns="0" tIns="0" rIns="0" bIns="0" rtlCol="0" anchor="ctr"/>
          <a:lstStyle/>
          <a:p>
            <a:pPr algn="ctr" indent="0" marL="0">
              <a:buNone/>
            </a:pPr>
            <a:r>
              <a:rPr lang="en-US" sz="1100" b="1" spc="140" kern="0" dirty="0">
                <a:solidFill>
                  <a:srgbClr val="F9F4ED"/>
                </a:solidFill>
                <a:latin typeface="Calibri" pitchFamily="34" charset="0"/>
                <a:ea typeface="Calibri" pitchFamily="34" charset="-122"/>
                <a:cs typeface="Calibri" pitchFamily="34" charset="-120"/>
              </a:rPr>
              <a:t>WHAT WE ARE ASKING FOR</a:t>
            </a:r>
            <a:endParaRPr lang="en-US" sz="1100" dirty="0"/>
          </a:p>
        </p:txBody>
      </p:sp>
      <p:sp>
        <p:nvSpPr>
          <p:cNvPr id="4" name="Text 2"/>
          <p:cNvSpPr txBox="1"/>
          <p:nvPr/>
        </p:nvSpPr>
        <p:spPr>
          <a:xfrm>
            <a:off x="566928" y="1051560"/>
            <a:ext cx="8229600" cy="731520"/>
          </a:xfrm>
          <a:prstGeom prst="rect">
            <a:avLst/>
          </a:prstGeom>
          <a:noFill/>
          <a:ln/>
        </p:spPr>
        <p:txBody>
          <a:bodyPr wrap="square" lIns="0" tIns="0" rIns="0" bIns="0" rtlCol="0" anchor="ctr"/>
          <a:lstStyle/>
          <a:p>
            <a:pPr indent="0" marL="0">
              <a:buNone/>
            </a:pPr>
            <a:r>
              <a:rPr lang="en-US" sz="3300" b="1" dirty="0">
                <a:solidFill>
                  <a:srgbClr val="402310"/>
                </a:solidFill>
                <a:latin typeface="Bookman Old Style" pitchFamily="34" charset="0"/>
                <a:ea typeface="Bookman Old Style" pitchFamily="34" charset="-122"/>
                <a:cs typeface="Bookman Old Style" pitchFamily="34" charset="-120"/>
              </a:rPr>
              <a:t>$100,000 to get it off paper.</a:t>
            </a:r>
            <a:endParaRPr lang="en-US" sz="3300" dirty="0"/>
          </a:p>
        </p:txBody>
      </p:sp>
      <p:sp>
        <p:nvSpPr>
          <p:cNvPr id="5" name="Text 3"/>
          <p:cNvSpPr txBox="1"/>
          <p:nvPr/>
        </p:nvSpPr>
        <p:spPr>
          <a:xfrm>
            <a:off x="566928" y="1828800"/>
            <a:ext cx="7680960" cy="548640"/>
          </a:xfrm>
          <a:prstGeom prst="rect">
            <a:avLst/>
          </a:prstGeom>
          <a:noFill/>
          <a:ln/>
        </p:spPr>
        <p:txBody>
          <a:bodyPr wrap="square" lIns="0" tIns="0" rIns="0" bIns="0" rtlCol="0" anchor="ctr"/>
          <a:lstStyle/>
          <a:p>
            <a:pPr indent="0" marL="0">
              <a:buNone/>
            </a:pPr>
            <a:r>
              <a:rPr lang="en-US" sz="1550" dirty="0">
                <a:solidFill>
                  <a:srgbClr val="2E2B25"/>
                </a:solidFill>
                <a:latin typeface="Calibri" pitchFamily="34" charset="0"/>
                <a:ea typeface="Calibri" pitchFamily="34" charset="-122"/>
                <a:cs typeface="Calibri" pitchFamily="34" charset="-120"/>
              </a:rPr>
              <a:t>NutriBrick is a concept and the nutrition figures are recipe targets. This is what changes that.</a:t>
            </a:r>
            <a:endParaRPr lang="en-US" sz="1550" dirty="0"/>
          </a:p>
        </p:txBody>
      </p:sp>
      <p:sp>
        <p:nvSpPr>
          <p:cNvPr id="6" name="Shape 4"/>
          <p:cNvSpPr/>
          <p:nvPr/>
        </p:nvSpPr>
        <p:spPr>
          <a:xfrm>
            <a:off x="566928" y="2606040"/>
            <a:ext cx="3429000" cy="3017520"/>
          </a:xfrm>
          <a:prstGeom prst="roundRect">
            <a:avLst>
              <a:gd name="adj" fmla="val 5455"/>
            </a:avLst>
          </a:prstGeom>
          <a:solidFill>
            <a:srgbClr val="FFF2EB"/>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7" name="Shape 5"/>
          <p:cNvSpPr/>
          <p:nvPr/>
        </p:nvSpPr>
        <p:spPr>
          <a:xfrm>
            <a:off x="886968" y="2926080"/>
            <a:ext cx="457200" cy="457200"/>
          </a:xfrm>
          <a:prstGeom prst="ellipse">
            <a:avLst/>
          </a:prstGeom>
          <a:solidFill>
            <a:srgbClr val="B2622D"/>
          </a:solidFill>
          <a:ln w="12700">
            <a:solidFill>
              <a:srgbClr val="333333"/>
            </a:solidFill>
            <a:prstDash val="solid"/>
          </a:ln>
        </p:spPr>
      </p:sp>
      <p:sp>
        <p:nvSpPr>
          <p:cNvPr id="8" name="Text 6"/>
          <p:cNvSpPr txBox="1"/>
          <p:nvPr/>
        </p:nvSpPr>
        <p:spPr>
          <a:xfrm>
            <a:off x="886968" y="2926080"/>
            <a:ext cx="457200" cy="457200"/>
          </a:xfrm>
          <a:prstGeom prst="rect">
            <a:avLst/>
          </a:prstGeom>
          <a:noFill/>
          <a:ln/>
        </p:spPr>
        <p:txBody>
          <a:bodyPr wrap="square" lIns="0" tIns="0" rIns="0" bIns="0" rtlCol="0" anchor="ctr"/>
          <a:lstStyle/>
          <a:p>
            <a:pPr algn="ctr" indent="0" marL="0">
              <a:buNone/>
            </a:pPr>
            <a:r>
              <a:rPr lang="en-US" sz="1500" b="1" dirty="0">
                <a:solidFill>
                  <a:srgbClr val="F9F4ED"/>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886968" y="3611880"/>
            <a:ext cx="2834640" cy="822960"/>
          </a:xfrm>
          <a:prstGeom prst="rect">
            <a:avLst/>
          </a:prstGeom>
          <a:noFill/>
          <a:ln/>
        </p:spPr>
        <p:txBody>
          <a:bodyPr wrap="square" lIns="0" tIns="0" rIns="0" bIns="0" rtlCol="0" anchor="ctr"/>
          <a:lstStyle/>
          <a:p>
            <a:pPr indent="0" marL="0">
              <a:lnSpc>
                <a:spcPts val="2400"/>
              </a:lnSpc>
              <a:buNone/>
            </a:pPr>
            <a:r>
              <a:rPr lang="en-US" sz="1900" b="1" dirty="0">
                <a:solidFill>
                  <a:srgbClr val="402310"/>
                </a:solidFill>
                <a:latin typeface="Bookman Old Style" pitchFamily="34" charset="0"/>
                <a:ea typeface="Bookman Old Style" pitchFamily="34" charset="-122"/>
                <a:cs typeface="Bookman Old Style" pitchFamily="34" charset="-120"/>
              </a:rPr>
              <a:t>Food scientist</a:t>
            </a:r>
            <a:endParaRPr lang="en-US" sz="1900" dirty="0"/>
          </a:p>
          <a:p>
            <a:pPr indent="0" marL="0">
              <a:lnSpc>
                <a:spcPts val="2400"/>
              </a:lnSpc>
              <a:buNone/>
            </a:pPr>
            <a:r>
              <a:rPr lang="en-US" sz="1900" b="1" dirty="0">
                <a:solidFill>
                  <a:srgbClr val="402310"/>
                </a:solidFill>
                <a:latin typeface="Bookman Old Style" pitchFamily="34" charset="0"/>
                <a:ea typeface="Bookman Old Style" pitchFamily="34" charset="-122"/>
                <a:cs typeface="Bookman Old Style" pitchFamily="34" charset="-120"/>
              </a:rPr>
              <a:t>&amp; nutritionist</a:t>
            </a:r>
            <a:endParaRPr lang="en-US" sz="1900" dirty="0"/>
          </a:p>
        </p:txBody>
      </p:sp>
      <p:sp>
        <p:nvSpPr>
          <p:cNvPr id="10" name="Text 8"/>
          <p:cNvSpPr txBox="1"/>
          <p:nvPr/>
        </p:nvSpPr>
        <p:spPr>
          <a:xfrm>
            <a:off x="886968" y="4526280"/>
            <a:ext cx="2834640" cy="1005840"/>
          </a:xfrm>
          <a:prstGeom prst="rect">
            <a:avLst/>
          </a:prstGeom>
          <a:noFill/>
          <a:ln/>
        </p:spPr>
        <p:txBody>
          <a:bodyPr wrap="square" lIns="0" tIns="0" rIns="0" bIns="0" rtlCol="0" anchor="ctr"/>
          <a:lstStyle/>
          <a:p>
            <a:pPr indent="0" marL="0">
              <a:lnSpc>
                <a:spcPts val="1900"/>
              </a:lnSpc>
              <a:buNone/>
            </a:pPr>
            <a:r>
              <a:rPr lang="en-US" sz="1300" dirty="0">
                <a:solidFill>
                  <a:srgbClr val="2E2B25"/>
                </a:solidFill>
                <a:latin typeface="Calibri" pitchFamily="34" charset="0"/>
                <a:ea typeface="Calibri" pitchFamily="34" charset="-122"/>
                <a:cs typeface="Calibri" pitchFamily="34" charset="-120"/>
              </a:rPr>
              <a:t>Turn the recipe into a real formulation, and verify the macros, shelf life and allergen safety.</a:t>
            </a:r>
            <a:endParaRPr lang="en-US" sz="1300" dirty="0"/>
          </a:p>
        </p:txBody>
      </p:sp>
      <p:sp>
        <p:nvSpPr>
          <p:cNvPr id="11" name="Shape 9"/>
          <p:cNvSpPr/>
          <p:nvPr/>
        </p:nvSpPr>
        <p:spPr>
          <a:xfrm>
            <a:off x="4279392" y="2606040"/>
            <a:ext cx="3429000" cy="3017520"/>
          </a:xfrm>
          <a:prstGeom prst="roundRect">
            <a:avLst>
              <a:gd name="adj" fmla="val 5455"/>
            </a:avLst>
          </a:prstGeom>
          <a:solidFill>
            <a:srgbClr val="FFF2EB"/>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12" name="Shape 10"/>
          <p:cNvSpPr/>
          <p:nvPr/>
        </p:nvSpPr>
        <p:spPr>
          <a:xfrm>
            <a:off x="4599432" y="2926080"/>
            <a:ext cx="457200" cy="457200"/>
          </a:xfrm>
          <a:prstGeom prst="ellipse">
            <a:avLst/>
          </a:prstGeom>
          <a:solidFill>
            <a:srgbClr val="B2622D"/>
          </a:solidFill>
          <a:ln w="12700">
            <a:solidFill>
              <a:srgbClr val="333333"/>
            </a:solidFill>
            <a:prstDash val="solid"/>
          </a:ln>
        </p:spPr>
      </p:sp>
      <p:sp>
        <p:nvSpPr>
          <p:cNvPr id="13" name="Text 11"/>
          <p:cNvSpPr txBox="1"/>
          <p:nvPr/>
        </p:nvSpPr>
        <p:spPr>
          <a:xfrm>
            <a:off x="4599432" y="2926080"/>
            <a:ext cx="457200" cy="457200"/>
          </a:xfrm>
          <a:prstGeom prst="rect">
            <a:avLst/>
          </a:prstGeom>
          <a:noFill/>
          <a:ln/>
        </p:spPr>
        <p:txBody>
          <a:bodyPr wrap="square" lIns="0" tIns="0" rIns="0" bIns="0" rtlCol="0" anchor="ctr"/>
          <a:lstStyle/>
          <a:p>
            <a:pPr algn="ctr" indent="0" marL="0">
              <a:buNone/>
            </a:pPr>
            <a:r>
              <a:rPr lang="en-US" sz="1500" b="1" dirty="0">
                <a:solidFill>
                  <a:srgbClr val="F9F4ED"/>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99432" y="3611880"/>
            <a:ext cx="2834640" cy="822960"/>
          </a:xfrm>
          <a:prstGeom prst="rect">
            <a:avLst/>
          </a:prstGeom>
          <a:noFill/>
          <a:ln/>
        </p:spPr>
        <p:txBody>
          <a:bodyPr wrap="square" lIns="0" tIns="0" rIns="0" bIns="0" rtlCol="0" anchor="ctr"/>
          <a:lstStyle/>
          <a:p>
            <a:pPr indent="0" marL="0">
              <a:lnSpc>
                <a:spcPts val="2400"/>
              </a:lnSpc>
              <a:buNone/>
            </a:pPr>
            <a:r>
              <a:rPr lang="en-US" sz="1900" b="1" dirty="0">
                <a:solidFill>
                  <a:srgbClr val="402310"/>
                </a:solidFill>
                <a:latin typeface="Bookman Old Style" pitchFamily="34" charset="0"/>
                <a:ea typeface="Bookman Old Style" pitchFamily="34" charset="-122"/>
                <a:cs typeface="Bookman Old Style" pitchFamily="34" charset="-120"/>
              </a:rPr>
              <a:t>Food grade</a:t>
            </a:r>
            <a:endParaRPr lang="en-US" sz="1900" dirty="0"/>
          </a:p>
          <a:p>
            <a:pPr indent="0" marL="0">
              <a:lnSpc>
                <a:spcPts val="2400"/>
              </a:lnSpc>
              <a:buNone/>
            </a:pPr>
            <a:r>
              <a:rPr lang="en-US" sz="1900" b="1" dirty="0">
                <a:solidFill>
                  <a:srgbClr val="402310"/>
                </a:solidFill>
                <a:latin typeface="Bookman Old Style" pitchFamily="34" charset="0"/>
                <a:ea typeface="Bookman Old Style" pitchFamily="34" charset="-122"/>
                <a:cs typeface="Bookman Old Style" pitchFamily="34" charset="-120"/>
              </a:rPr>
              <a:t>moulds</a:t>
            </a:r>
            <a:endParaRPr lang="en-US" sz="1900" dirty="0"/>
          </a:p>
        </p:txBody>
      </p:sp>
      <p:sp>
        <p:nvSpPr>
          <p:cNvPr id="15" name="Text 13"/>
          <p:cNvSpPr txBox="1"/>
          <p:nvPr/>
        </p:nvSpPr>
        <p:spPr>
          <a:xfrm>
            <a:off x="4599432" y="4526280"/>
            <a:ext cx="2834640" cy="1005840"/>
          </a:xfrm>
          <a:prstGeom prst="rect">
            <a:avLst/>
          </a:prstGeom>
          <a:noFill/>
          <a:ln/>
        </p:spPr>
        <p:txBody>
          <a:bodyPr wrap="square" lIns="0" tIns="0" rIns="0" bIns="0" rtlCol="0" anchor="ctr"/>
          <a:lstStyle/>
          <a:p>
            <a:pPr indent="0" marL="0">
              <a:lnSpc>
                <a:spcPts val="1900"/>
              </a:lnSpc>
              <a:buNone/>
            </a:pPr>
            <a:r>
              <a:rPr lang="en-US" sz="1300" dirty="0">
                <a:solidFill>
                  <a:srgbClr val="2E2B25"/>
                </a:solidFill>
                <a:latin typeface="Calibri" pitchFamily="34" charset="0"/>
                <a:ea typeface="Calibri" pitchFamily="34" charset="-122"/>
                <a:cs typeface="Calibri" pitchFamily="34" charset="-120"/>
              </a:rPr>
              <a:t>The studs have to interlock and survive a six year old. Tooling is the main upfront cost.</a:t>
            </a:r>
            <a:endParaRPr lang="en-US" sz="1300" dirty="0"/>
          </a:p>
        </p:txBody>
      </p:sp>
      <p:sp>
        <p:nvSpPr>
          <p:cNvPr id="16" name="Shape 14"/>
          <p:cNvSpPr/>
          <p:nvPr/>
        </p:nvSpPr>
        <p:spPr>
          <a:xfrm>
            <a:off x="7991856" y="2606040"/>
            <a:ext cx="3429000" cy="3017520"/>
          </a:xfrm>
          <a:prstGeom prst="roundRect">
            <a:avLst>
              <a:gd name="adj" fmla="val 5455"/>
            </a:avLst>
          </a:prstGeom>
          <a:solidFill>
            <a:srgbClr val="F0FAE1"/>
          </a:solidFill>
          <a:ln w="31750">
            <a:solidFill>
              <a:srgbClr val="402310"/>
            </a:solidFill>
            <a:prstDash val="solid"/>
          </a:ln>
          <a:effectLst>
            <a:outerShdw sx="100000" sy="100000" kx="0" ky="0" algn="bl" rotWithShape="0" blurRad="101600" dist="63500" dir="2700000">
              <a:srgbClr val="402310">
                <a:alpha val="100000"/>
              </a:srgbClr>
            </a:outerShdw>
          </a:effectLst>
        </p:spPr>
      </p:sp>
      <p:sp>
        <p:nvSpPr>
          <p:cNvPr id="17" name="Shape 15"/>
          <p:cNvSpPr/>
          <p:nvPr/>
        </p:nvSpPr>
        <p:spPr>
          <a:xfrm>
            <a:off x="8311896" y="2926080"/>
            <a:ext cx="457200" cy="457200"/>
          </a:xfrm>
          <a:prstGeom prst="ellipse">
            <a:avLst/>
          </a:prstGeom>
          <a:solidFill>
            <a:srgbClr val="728157"/>
          </a:solidFill>
          <a:ln w="12700">
            <a:solidFill>
              <a:srgbClr val="333333"/>
            </a:solidFill>
            <a:prstDash val="solid"/>
          </a:ln>
        </p:spPr>
      </p:sp>
      <p:sp>
        <p:nvSpPr>
          <p:cNvPr id="18" name="Text 16"/>
          <p:cNvSpPr txBox="1"/>
          <p:nvPr/>
        </p:nvSpPr>
        <p:spPr>
          <a:xfrm>
            <a:off x="8311896" y="2926080"/>
            <a:ext cx="457200" cy="457200"/>
          </a:xfrm>
          <a:prstGeom prst="rect">
            <a:avLst/>
          </a:prstGeom>
          <a:noFill/>
          <a:ln/>
        </p:spPr>
        <p:txBody>
          <a:bodyPr wrap="square" lIns="0" tIns="0" rIns="0" bIns="0" rtlCol="0" anchor="ctr"/>
          <a:lstStyle/>
          <a:p>
            <a:pPr algn="ctr" indent="0" marL="0">
              <a:buNone/>
            </a:pPr>
            <a:r>
              <a:rPr lang="en-US" sz="1500" b="1" dirty="0">
                <a:solidFill>
                  <a:srgbClr val="F9F4ED"/>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11896" y="3611880"/>
            <a:ext cx="2834640" cy="822960"/>
          </a:xfrm>
          <a:prstGeom prst="rect">
            <a:avLst/>
          </a:prstGeom>
          <a:noFill/>
          <a:ln/>
        </p:spPr>
        <p:txBody>
          <a:bodyPr wrap="square" lIns="0" tIns="0" rIns="0" bIns="0" rtlCol="0" anchor="ctr"/>
          <a:lstStyle/>
          <a:p>
            <a:pPr indent="0" marL="0">
              <a:lnSpc>
                <a:spcPts val="2400"/>
              </a:lnSpc>
              <a:buNone/>
            </a:pPr>
            <a:r>
              <a:rPr lang="en-US" sz="1900" b="1" dirty="0">
                <a:solidFill>
                  <a:srgbClr val="402310"/>
                </a:solidFill>
                <a:latin typeface="Bookman Old Style" pitchFamily="34" charset="0"/>
                <a:ea typeface="Bookman Old Style" pitchFamily="34" charset="-122"/>
                <a:cs typeface="Bookman Old Style" pitchFamily="34" charset="-120"/>
              </a:rPr>
              <a:t>A small</a:t>
            </a:r>
            <a:endParaRPr lang="en-US" sz="1900" dirty="0"/>
          </a:p>
          <a:p>
            <a:pPr indent="0" marL="0">
              <a:lnSpc>
                <a:spcPts val="2400"/>
              </a:lnSpc>
              <a:buNone/>
            </a:pPr>
            <a:r>
              <a:rPr lang="en-US" sz="1900" b="1" dirty="0">
                <a:solidFill>
                  <a:srgbClr val="402310"/>
                </a:solidFill>
                <a:latin typeface="Bookman Old Style" pitchFamily="34" charset="0"/>
                <a:ea typeface="Bookman Old Style" pitchFamily="34" charset="-122"/>
                <a:cs typeface="Bookman Old Style" pitchFamily="34" charset="-120"/>
              </a:rPr>
              <a:t>production run</a:t>
            </a:r>
            <a:endParaRPr lang="en-US" sz="1900" dirty="0"/>
          </a:p>
        </p:txBody>
      </p:sp>
      <p:sp>
        <p:nvSpPr>
          <p:cNvPr id="20" name="Text 18"/>
          <p:cNvSpPr txBox="1"/>
          <p:nvPr/>
        </p:nvSpPr>
        <p:spPr>
          <a:xfrm>
            <a:off x="8311896" y="4526280"/>
            <a:ext cx="2834640" cy="1005840"/>
          </a:xfrm>
          <a:prstGeom prst="rect">
            <a:avLst/>
          </a:prstGeom>
          <a:noFill/>
          <a:ln/>
        </p:spPr>
        <p:txBody>
          <a:bodyPr wrap="square" lIns="0" tIns="0" rIns="0" bIns="0" rtlCol="0" anchor="ctr"/>
          <a:lstStyle/>
          <a:p>
            <a:pPr indent="0" marL="0">
              <a:lnSpc>
                <a:spcPts val="1900"/>
              </a:lnSpc>
              <a:buNone/>
            </a:pPr>
            <a:r>
              <a:rPr lang="en-US" sz="1300" dirty="0">
                <a:solidFill>
                  <a:srgbClr val="2E2B25"/>
                </a:solidFill>
                <a:latin typeface="Calibri" pitchFamily="34" charset="0"/>
                <a:ea typeface="Calibri" pitchFamily="34" charset="-122"/>
                <a:cs typeface="Calibri" pitchFamily="34" charset="-120"/>
              </a:rPr>
              <a:t>Put real bricks in front of real families and test whether kids build before they eat.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02310"/>
        </a:solidFill>
      </p:bgPr>
    </p:bg>
    <p:spTree>
      <p:nvGrpSpPr>
        <p:cNvPr id="1" name=""/>
        <p:cNvGrpSpPr/>
        <p:nvPr/>
      </p:nvGrpSpPr>
      <p:grpSpPr>
        <a:xfrm>
          <a:off x="0" y="0"/>
          <a:ext cx="0" cy="0"/>
          <a:chOff x="0" y="0"/>
          <a:chExt cx="0" cy="0"/>
        </a:xfrm>
      </p:grpSpPr>
      <p:sp>
        <p:nvSpPr>
          <p:cNvPr id="2" name="Shape 0"/>
          <p:cNvSpPr/>
          <p:nvPr/>
        </p:nvSpPr>
        <p:spPr>
          <a:xfrm>
            <a:off x="566928" y="502920"/>
            <a:ext cx="457200" cy="457200"/>
          </a:xfrm>
          <a:prstGeom prst="roundRect">
            <a:avLst>
              <a:gd name="adj" fmla="val 50000"/>
            </a:avLst>
          </a:prstGeom>
          <a:solidFill>
            <a:srgbClr val="643312"/>
          </a:solidFill>
          <a:ln w="25400">
            <a:solidFill>
              <a:srgbClr val="402310"/>
            </a:solidFill>
            <a:prstDash val="solid"/>
          </a:ln>
        </p:spPr>
      </p:sp>
      <p:sp>
        <p:nvSpPr>
          <p:cNvPr id="3" name="Shape 1"/>
          <p:cNvSpPr/>
          <p:nvPr/>
        </p:nvSpPr>
        <p:spPr>
          <a:xfrm>
            <a:off x="653796" y="589788"/>
            <a:ext cx="86868" cy="86868"/>
          </a:xfrm>
          <a:prstGeom prst="ellipse">
            <a:avLst/>
          </a:prstGeom>
          <a:solidFill>
            <a:srgbClr val="F6A06B"/>
          </a:solidFill>
          <a:ln w="12700">
            <a:solidFill>
              <a:srgbClr val="333333"/>
            </a:solidFill>
            <a:prstDash val="solid"/>
          </a:ln>
        </p:spPr>
      </p:sp>
      <p:sp>
        <p:nvSpPr>
          <p:cNvPr id="4" name="Shape 2"/>
          <p:cNvSpPr/>
          <p:nvPr/>
        </p:nvSpPr>
        <p:spPr>
          <a:xfrm>
            <a:off x="805815" y="589788"/>
            <a:ext cx="86868" cy="86868"/>
          </a:xfrm>
          <a:prstGeom prst="ellipse">
            <a:avLst/>
          </a:prstGeom>
          <a:solidFill>
            <a:srgbClr val="F6A06B"/>
          </a:solidFill>
          <a:ln w="12700">
            <a:solidFill>
              <a:srgbClr val="333333"/>
            </a:solidFill>
            <a:prstDash val="solid"/>
          </a:ln>
        </p:spPr>
      </p:sp>
      <p:sp>
        <p:nvSpPr>
          <p:cNvPr id="5" name="Shape 3"/>
          <p:cNvSpPr/>
          <p:nvPr/>
        </p:nvSpPr>
        <p:spPr>
          <a:xfrm>
            <a:off x="653796" y="741807"/>
            <a:ext cx="86868" cy="86868"/>
          </a:xfrm>
          <a:prstGeom prst="ellipse">
            <a:avLst/>
          </a:prstGeom>
          <a:solidFill>
            <a:srgbClr val="F6A06B"/>
          </a:solidFill>
          <a:ln w="12700">
            <a:solidFill>
              <a:srgbClr val="333333"/>
            </a:solidFill>
            <a:prstDash val="solid"/>
          </a:ln>
        </p:spPr>
      </p:sp>
      <p:sp>
        <p:nvSpPr>
          <p:cNvPr id="6" name="Shape 4"/>
          <p:cNvSpPr/>
          <p:nvPr/>
        </p:nvSpPr>
        <p:spPr>
          <a:xfrm>
            <a:off x="805815" y="741807"/>
            <a:ext cx="86868" cy="86868"/>
          </a:xfrm>
          <a:prstGeom prst="ellipse">
            <a:avLst/>
          </a:prstGeom>
          <a:solidFill>
            <a:srgbClr val="F6A06B"/>
          </a:solidFill>
          <a:ln w="12700">
            <a:solidFill>
              <a:srgbClr val="333333"/>
            </a:solidFill>
            <a:prstDash val="solid"/>
          </a:ln>
        </p:spPr>
      </p:sp>
      <p:sp>
        <p:nvSpPr>
          <p:cNvPr id="7" name="Text 5"/>
          <p:cNvSpPr txBox="1"/>
          <p:nvPr/>
        </p:nvSpPr>
        <p:spPr>
          <a:xfrm>
            <a:off x="1225296" y="548640"/>
            <a:ext cx="3657600" cy="365760"/>
          </a:xfrm>
          <a:prstGeom prst="rect">
            <a:avLst/>
          </a:prstGeom>
          <a:noFill/>
          <a:ln/>
        </p:spPr>
        <p:txBody>
          <a:bodyPr wrap="square" lIns="0" tIns="0" rIns="0" bIns="0" rtlCol="0" anchor="ctr"/>
          <a:lstStyle/>
          <a:p>
            <a:pPr indent="0" marL="0">
              <a:buNone/>
            </a:pPr>
            <a:r>
              <a:rPr lang="en-US" sz="1500" b="1" spc="300" kern="0" dirty="0">
                <a:solidFill>
                  <a:srgbClr val="FFE1D0"/>
                </a:solidFill>
                <a:latin typeface="Calibri" pitchFamily="34" charset="0"/>
                <a:ea typeface="Calibri" pitchFamily="34" charset="-122"/>
                <a:cs typeface="Calibri" pitchFamily="34" charset="-120"/>
              </a:rPr>
              <a:t>NUTRIBRICK</a:t>
            </a:r>
            <a:endParaRPr lang="en-US" sz="1500" dirty="0"/>
          </a:p>
        </p:txBody>
      </p:sp>
      <p:sp>
        <p:nvSpPr>
          <p:cNvPr id="8" name="Text 6"/>
          <p:cNvSpPr txBox="1"/>
          <p:nvPr/>
        </p:nvSpPr>
        <p:spPr>
          <a:xfrm>
            <a:off x="566928" y="1691640"/>
            <a:ext cx="6949440" cy="2468880"/>
          </a:xfrm>
          <a:prstGeom prst="rect">
            <a:avLst/>
          </a:prstGeom>
          <a:noFill/>
          <a:ln/>
        </p:spPr>
        <p:txBody>
          <a:bodyPr wrap="square" lIns="0" tIns="0" rIns="0" bIns="0" rtlCol="0" anchor="ctr"/>
          <a:lstStyle/>
          <a:p>
            <a:pPr indent="0" marL="0">
              <a:lnSpc>
                <a:spcPts val="4400"/>
              </a:lnSpc>
              <a:buNone/>
            </a:pPr>
            <a:r>
              <a:rPr lang="en-US" sz="3400" b="1" dirty="0">
                <a:solidFill>
                  <a:srgbClr val="F9F4ED"/>
                </a:solidFill>
                <a:latin typeface="Bookman Old Style" pitchFamily="34" charset="0"/>
                <a:ea typeface="Bookman Old Style" pitchFamily="34" charset="-122"/>
                <a:cs typeface="Bookman Old Style" pitchFamily="34" charset="-120"/>
              </a:rPr>
              <a:t>Kids decide with their</a:t>
            </a:r>
            <a:endParaRPr lang="en-US" sz="3400" dirty="0"/>
          </a:p>
          <a:p>
            <a:pPr indent="0" marL="0">
              <a:lnSpc>
                <a:spcPts val="4400"/>
              </a:lnSpc>
              <a:buNone/>
            </a:pPr>
            <a:r>
              <a:rPr lang="en-US" sz="3400" b="1" dirty="0">
                <a:solidFill>
                  <a:srgbClr val="F9F4ED"/>
                </a:solidFill>
                <a:latin typeface="Bookman Old Style" pitchFamily="34" charset="0"/>
                <a:ea typeface="Bookman Old Style" pitchFamily="34" charset="-122"/>
                <a:cs typeface="Bookman Old Style" pitchFamily="34" charset="-120"/>
              </a:rPr>
              <a:t>eyes and their hands</a:t>
            </a:r>
            <a:endParaRPr lang="en-US" sz="3400" dirty="0"/>
          </a:p>
          <a:p>
            <a:pPr indent="0" marL="0">
              <a:lnSpc>
                <a:spcPts val="4400"/>
              </a:lnSpc>
              <a:buNone/>
            </a:pPr>
            <a:r>
              <a:rPr lang="en-US" sz="3400" b="1" dirty="0">
                <a:solidFill>
                  <a:srgbClr val="F9F4ED"/>
                </a:solidFill>
                <a:latin typeface="Bookman Old Style" pitchFamily="34" charset="0"/>
                <a:ea typeface="Bookman Old Style" pitchFamily="34" charset="-122"/>
                <a:cs typeface="Bookman Old Style" pitchFamily="34" charset="-120"/>
              </a:rPr>
              <a:t>before anything else.</a:t>
            </a:r>
            <a:endParaRPr lang="en-US" sz="3400" dirty="0"/>
          </a:p>
        </p:txBody>
      </p:sp>
      <p:sp>
        <p:nvSpPr>
          <p:cNvPr id="9" name="Text 7"/>
          <p:cNvSpPr txBox="1"/>
          <p:nvPr/>
        </p:nvSpPr>
        <p:spPr>
          <a:xfrm>
            <a:off x="566928" y="4389120"/>
            <a:ext cx="6583680" cy="731520"/>
          </a:xfrm>
          <a:prstGeom prst="rect">
            <a:avLst/>
          </a:prstGeom>
          <a:noFill/>
          <a:ln/>
        </p:spPr>
        <p:txBody>
          <a:bodyPr wrap="square" lIns="0" tIns="0" rIns="0" bIns="0" rtlCol="0" anchor="ctr"/>
          <a:lstStyle/>
          <a:p>
            <a:pPr indent="0" marL="0">
              <a:lnSpc>
                <a:spcPts val="2200"/>
              </a:lnSpc>
              <a:buNone/>
            </a:pPr>
            <a:r>
              <a:rPr lang="en-US" sz="1600" dirty="0">
                <a:solidFill>
                  <a:srgbClr val="FFE1D0"/>
                </a:solidFill>
                <a:latin typeface="Calibri" pitchFamily="34" charset="0"/>
                <a:ea typeface="Calibri" pitchFamily="34" charset="-122"/>
                <a:cs typeface="Calibri" pitchFamily="34" charset="-120"/>
              </a:rPr>
              <a:t>Almost every healthy snack asks them to ignore that. Ours is built on it.</a:t>
            </a:r>
            <a:endParaRPr lang="en-US" sz="1600" dirty="0"/>
          </a:p>
        </p:txBody>
      </p:sp>
      <p:sp>
        <p:nvSpPr>
          <p:cNvPr id="10" name="Text 8"/>
          <p:cNvSpPr txBox="1"/>
          <p:nvPr/>
        </p:nvSpPr>
        <p:spPr>
          <a:xfrm>
            <a:off x="566928" y="5029200"/>
            <a:ext cx="6583680" cy="457200"/>
          </a:xfrm>
          <a:prstGeom prst="rect">
            <a:avLst/>
          </a:prstGeom>
          <a:noFill/>
          <a:ln/>
        </p:spPr>
        <p:txBody>
          <a:bodyPr wrap="square" lIns="0" tIns="0" rIns="0" bIns="0" rtlCol="0" anchor="ctr"/>
          <a:lstStyle/>
          <a:p>
            <a:pPr indent="0" marL="0">
              <a:buNone/>
            </a:pPr>
            <a:r>
              <a:rPr lang="en-US" sz="1400" dirty="0">
                <a:solidFill>
                  <a:srgbClr val="C0B6A5"/>
                </a:solidFill>
                <a:latin typeface="Calibri" pitchFamily="34" charset="0"/>
                <a:ea typeface="Calibri" pitchFamily="34" charset="-122"/>
                <a:cs typeface="Calibri" pitchFamily="34" charset="-120"/>
              </a:rPr>
              <a:t>A Year 10 team working through Future Anything. Still a concept.</a:t>
            </a:r>
            <a:endParaRPr lang="en-US" sz="1400" dirty="0"/>
          </a:p>
        </p:txBody>
      </p:sp>
      <p:sp>
        <p:nvSpPr>
          <p:cNvPr id="11" name="Shape 9"/>
          <p:cNvSpPr/>
          <p:nvPr/>
        </p:nvSpPr>
        <p:spPr>
          <a:xfrm>
            <a:off x="566928" y="5349240"/>
            <a:ext cx="4206240" cy="420624"/>
          </a:xfrm>
          <a:prstGeom prst="roundRect">
            <a:avLst>
              <a:gd name="adj" fmla="val 108696"/>
            </a:avLst>
          </a:prstGeom>
          <a:solidFill>
            <a:srgbClr val="728157"/>
          </a:solidFill>
          <a:ln w="25400">
            <a:solidFill>
              <a:srgbClr val="728157"/>
            </a:solidFill>
            <a:prstDash val="solid"/>
          </a:ln>
        </p:spPr>
      </p:sp>
      <p:sp>
        <p:nvSpPr>
          <p:cNvPr id="12" name="Text 10"/>
          <p:cNvSpPr txBox="1"/>
          <p:nvPr/>
        </p:nvSpPr>
        <p:spPr>
          <a:xfrm>
            <a:off x="566928" y="5349240"/>
            <a:ext cx="4206240" cy="420624"/>
          </a:xfrm>
          <a:prstGeom prst="rect">
            <a:avLst/>
          </a:prstGeom>
          <a:noFill/>
          <a:ln/>
        </p:spPr>
        <p:txBody>
          <a:bodyPr wrap="square" lIns="0" tIns="0" rIns="0" bIns="0" rtlCol="0" anchor="ctr"/>
          <a:lstStyle/>
          <a:p>
            <a:pPr algn="ctr" indent="0" marL="0">
              <a:buNone/>
            </a:pPr>
            <a:r>
              <a:rPr lang="en-US" sz="1050" b="1" spc="140" kern="0" dirty="0">
                <a:solidFill>
                  <a:srgbClr val="F9F4ED"/>
                </a:solidFill>
                <a:latin typeface="Calibri" pitchFamily="34" charset="0"/>
                <a:ea typeface="Calibri" pitchFamily="34" charset="-122"/>
                <a:cs typeface="Calibri" pitchFamily="34" charset="-120"/>
              </a:rPr>
              <a:t>A FUTURE ANYTHING STUDENT VENTURE</a:t>
            </a:r>
            <a:endParaRPr lang="en-US" sz="1050" dirty="0"/>
          </a:p>
        </p:txBody>
      </p:sp>
      <p:pic>
        <p:nvPicPr>
          <p:cNvPr id="13" name="Image 0" descr="img-tower.png">    </p:cNvPr>
          <p:cNvPicPr>
            <a:picLocks noChangeAspect="1"/>
          </p:cNvPicPr>
          <p:nvPr/>
        </p:nvPicPr>
        <p:blipFill>
          <a:blip r:embed="rId1"/>
          <a:stretch>
            <a:fillRect/>
          </a:stretch>
        </p:blipFill>
        <p:spPr>
          <a:xfrm>
            <a:off x="8046720" y="1463040"/>
            <a:ext cx="3566160" cy="24871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NutriBrick — pitch</dc:title>
  <dc:subject>PptxGenJS Presentation</dc:subject>
  <dc:creator>NutriBrick</dc:creator>
  <cp:lastModifiedBy>NutriBrick</cp:lastModifiedBy>
  <cp:revision>1</cp:revision>
  <dcterms:created xsi:type="dcterms:W3CDTF">2026-09-01T04:11:34Z</dcterms:created>
  <dcterms:modified xsi:type="dcterms:W3CDTF">2026-09-01T04:11:34Z</dcterms:modified>
</cp:coreProperties>
</file>